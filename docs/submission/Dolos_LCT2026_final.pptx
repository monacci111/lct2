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365" r:id="rId2"/>
    <p:sldId id="366" r:id="rId3"/>
    <p:sldId id="362" r:id="rId4"/>
    <p:sldId id="364" r:id="rId5"/>
    <p:sldId id="375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Шаблоны слайдов" id="{24401F80-F81B-49C3-8D55-70A14F0BF8FF}">
          <p14:sldIdLst/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ACTUAL_STATE.md, итоговая проверка исходного журнала 312 982 076 событий; FINAL_PRODUCT_V1_STATUS.txt: 19 типов, 12 627 каналов, 1 142 вне текущего справочника. Реальная авария не подтверждена меткой в переданном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54001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validation/FINAL_PRODUCT_V1_STATUS.txt. Статусы 2/4/13 относятся к типам и данным, а не к фиксированному списку ID. Насосная модель действует с оговоркой о слабом качестве.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6678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FINAL_PRODUCT_V1_STATUS.txt, review_v2. Группировка по объекту и времени сохраняет отдельные draft_id и решения. 13 групп – исторический пик по available_at, не фактическая скорость обработки диспетчера. Скриншот работающего /review.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2973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реального draft_id power_phase_scada_v2:178259:20251210T090000 из API v2. object_id 5003, score 0.984848..., горизонт 48 часов, target_kind SCADA_STATUS_EPISODE. Карточка в слайде – сжатая визуализация реального ответа API, не скриншот.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6925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backend/app/db/models.py, backend/app/api/v2/routes.py, frontend/src/pages/review/DecisionPanel.tsx. V2Decision сохраняет decision, reason, author_id, decided_at и draft_id. Реальные исторические решения заказчик не предоставил; показанный интерфейс демонстрационный.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3403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V2Decision в backend/app/db/models.py; production_ml/pipeline/apply_dispatch_feedback.py и USAGE_DISPATCH_REVIEW_V2.txt. Скрипт соединяет полученный журнал с членами очереди по draft_id и сохраняет последнюю версию решения. Экспорт живой БД в формат ML не реализован, реальных решений пока нет. Approval не является меткой подтверждённого физического отказа.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984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backend/app/api/v2/routes.py, V2Decision и V2WorkOrder. POST /work-orders требует approved, по draft_id допускается один наряд. Идемпотентный ключ защищает от повторной доставки запроса. Противоречащее решение возвращает 409, исправление доступно роли supervisor через отдельный append-only маршрут.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838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backend/data/ml_handoff/api_contract_v1.json, validation/HANDOFF_V1_STATUS.txt, validation/REPLAY_V1_STATUS.txt. Система различает source_obs_time и available_at, будущее не попадает в признаки и replay. Действительное время доставки исходных событий и часовой пояс источника неизвестны.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26475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validation/ITS_EVIDENCE_V1_STATUS.txt. 378810 строк channel_history в 30 месячных срезах, 12627 каналов. Слой наблюдения не равен числовому индексу технического состояния. Заказчик не предоставит журнал эксплуатации и ремонтов; числовой физический ИТС 0–100 не выпускается.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69464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validation/FINAL_PRODUCT_V1_STATUS.txt. Фаза ROC-AUC 0.96550 AP 0.71625. Насос ROC-AUC 0.58687 AP 0.13931, качество нестабильно, действует с оговоркой. Метрики не подтверждают прогноз физической аварии и не равны Precision/Recall из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3980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fire_history_view.json и ACTUAL_STATE.md: 42 416 истинных сообщений «Обнаружен дым», 15 458 локальных карточек после исправления фильтра, 1 телеметрический кандидат. Подтверждённое число пожаров неизвестно. Скриншот /fire-history.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918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validation/check_replay_v1 и экран /replay. События открываются по выбранному историческому шагу, будущее скрыто. Это реконструкция, живой поток не подключён.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17760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работающий локальный сервис, скриншоты /overview, /analytics, /situations; README.md. Проверки финального дерева: frontend 348/348 тестов, backend 2/2 и production build. Продукт демонстрирует историю до 30.06.2026, не живой 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5553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backend/data/ml_handoff/api_contract_v1.json, validation/HANDOFF_V1_STATUS.txt и DISPATCH_REVIEW_V2_STATUS.txt. По source_ref можно восстановить свидетельства; доступность и исходное время не смешиваются.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446114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validation/FINAL_PRODUCT_V1_STATUS.txt и SENSOR_COVERAGE_STATUS.txt. 1 142 – каналы вне текущего справочника, а не доказанно непригодные датчики. Допуск зависит от типа и доступной истории, не от списка обучающих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17301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validation/FINAL_PRODUCT_V1_STATUS.txt. Температура AP 0.01917; вентилятор ROC-AUC 0.51873, 38 заявок и 5 совпадений. Газовые численные превышения нельзя объявлять утечками без графика ППР и физической цели.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954360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Публичные адреса предоставлены командой 29.09.2026 и проверены HTTP 200 в день подготовки слайдов. HTTP 200 проверяет доступность URL, но не полный маршрут пользователя и не постоянную доступность сервера. Скриншот overview из работающего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25198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ТЗ, раздел 13, интеграция с СМВУ только на чтение; ACTUAL_STATE.md и README.md. Живой поток и перечисленные внешние источники в текущий продукт не подключены.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674327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Итоговые числа подтверждены FINAL_PRODUCT_V1_STATUS.txt. Репозиторий origin: https://github.com/MonaCCi111/lct2.git. Прототип: http://45.15.159.227/overview.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2621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8261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  <p:sldLayoutId id="2147483705" r:id="rId2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://45.15.159.227/docs" TargetMode="External"/><Relationship Id="rId5" Type="http://schemas.openxmlformats.org/officeDocument/2006/relationships/hyperlink" Target="http://45.15.159.227/overview" TargetMode="Externa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Relationship Id="rId5" Type="http://schemas.openxmlformats.org/officeDocument/2006/relationships/hyperlink" Target="https://github.com/MonaCCi111/lct2" TargetMode="External"/><Relationship Id="rId4" Type="http://schemas.openxmlformats.org/officeDocument/2006/relationships/hyperlink" Target="http://45.15.159.227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50EBBED-A401-4F40-936B-778201515353}"/>
              </a:ext>
            </a:extLst>
          </p:cNvPr>
          <p:cNvSpPr/>
          <p:nvPr/>
        </p:nvSpPr>
        <p:spPr>
          <a:xfrm>
            <a:off x="1739900" y="317500"/>
            <a:ext cx="2311400" cy="11049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bg1">
                    <a:alpha val="47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B0BD67A-3482-4060-935B-83597407EB1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0" y="342900"/>
            <a:ext cx="2108200" cy="10541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FDB3B8-432F-43B4-8A22-1B125CBC0FDD}"/>
              </a:ext>
            </a:extLst>
          </p:cNvPr>
          <p:cNvSpPr txBox="1"/>
          <p:nvPr/>
        </p:nvSpPr>
        <p:spPr>
          <a:xfrm>
            <a:off x="495300" y="2959100"/>
            <a:ext cx="5969000" cy="110799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3600" b="1">
                <a:solidFill>
                  <a:srgbClr val="FFFFFF"/>
                </a:solidFill>
                <a:latin typeface="Montserrat"/>
              </a:rPr>
              <a:t>От сигнала к решению диспетчера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BF21D-A987-45EF-B7EB-AA3EB36A4314}"/>
              </a:ext>
            </a:extLst>
          </p:cNvPr>
          <p:cNvSpPr txBox="1"/>
          <p:nvPr/>
        </p:nvSpPr>
        <p:spPr>
          <a:xfrm>
            <a:off x="520700" y="4597400"/>
            <a:ext cx="5715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2100" b="1">
                <a:solidFill>
                  <a:srgbClr val="FFFFFF"/>
                </a:solidFill>
                <a:latin typeface="Montserrat"/>
              </a:rPr>
              <a:t>Проверяемая очередь для инженерных коллекторов Москвы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84D8A9-0351-45ED-8D29-A8E1524D7082}"/>
              </a:ext>
            </a:extLst>
          </p:cNvPr>
          <p:cNvSpPr txBox="1"/>
          <p:nvPr/>
        </p:nvSpPr>
        <p:spPr>
          <a:xfrm>
            <a:off x="533400" y="5702300"/>
            <a:ext cx="60325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1300" b="1">
                <a:solidFill>
                  <a:srgbClr val="FFFFFF"/>
                </a:solidFill>
                <a:latin typeface="Montserrat"/>
              </a:rPr>
              <a:t>АО «Москоллектор» · Задача №8: Сервис прогнозирования аварий и управления ремонтными работами инженерных коллекторов Москвы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19 типов датчиков получили явную роль. Слабые модели не маскируются под точный прогноз; повторные сигналы собираются в группы, но каждое решение остаётся отдельным.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 Дягилев Вячеслав Игоревич – ML/data.
Наумов Роман Евгеньевич – frontend.
Фролкин Александр Александрович – backend.
Команда из Москвы.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Dolos превращает поток показаний в проверяемую очередь: источник, контекст, черновик, решение диспетчера и наряд.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200">
                <a:solidFill>
                  <a:schemeClr val="accent5"/>
                </a:solidFill>
              </a:rPr>
              <a:t>2</a:t>
            </a:r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Frontend
Интерфейс диспетчера и таймлайн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Наумов Роман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Backend
API, решения и наряды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Фролкин Александр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3062936-01A7-4C44-8D7A-63DB16A00F7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8" b="2758"/>
          <a:stretch>
            <a:fillRect/>
          </a:stretch>
        </p:blipFill>
        <p:spPr>
          <a:xfrm>
            <a:off x="589037" y="1828800"/>
            <a:ext cx="1704826" cy="1536700"/>
          </a:xfr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D2753FA-362F-450B-845B-BF59215D5FA9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17" b="17017"/>
          <a:stretch>
            <a:fillRect/>
          </a:stretch>
        </p:blipFill>
        <p:spPr>
          <a:xfrm>
            <a:off x="2894292" y="1828800"/>
            <a:ext cx="1717117" cy="1536700"/>
          </a:xfr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DFD01449-077D-42EB-B910-1DD3A1E73DE5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97" b="13797"/>
          <a:stretch>
            <a:fillRect/>
          </a:stretch>
        </p:blipFill>
        <p:spPr>
          <a:xfrm>
            <a:off x="5202609" y="1828800"/>
            <a:ext cx="1697882" cy="1536700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КОМАНДА </a:t>
            </a:r>
            <a:r>
              <a:rPr lang="en-US">
                <a:latin typeface="+mn-lt"/>
              </a:rPr>
              <a:t>DOLOS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Капитан · ML/data
Исследование данных и моделей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Дягилев Вячеслав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4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Вячеслав проверил данные и модели, Александр связал их с API и нарядами, Роман собрал рабочее место диспетчера. Все части работают по одному контракту.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>
                <a:solidFill>
                  <a:schemeClr val="accent5"/>
                </a:solidFill>
              </a:rPr>
              <a:t>Как мы собрали решение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В 312,9 млн записей нет надёжной метки физической аварии. Мы отделили прогноз SCADA от наблюдаемого факта, оставили ограничения на виду и сгруппировали повторы без лимита 10 в день.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>
                <a:solidFill>
                  <a:schemeClr val="accent5"/>
                </a:solidFill>
              </a:rPr>
              <a:t>Что оказалось самым трудным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АО «Москоллектор» эксплуатирует 825 км коллекторов. Нас заинтересовала практическая задача: помочь диспетчеру быстро понять, что произошло и какие показания это подтверждают.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>
                <a:solidFill>
                  <a:schemeClr val="accent5"/>
                </a:solidFill>
              </a:rPr>
              <a:t>Почему взяли кейс Москоллектора</a:t>
            </a:r>
            <a:endParaRPr lang="ru-RU" b="1" dirty="0">
              <a:solidFill>
                <a:schemeClr val="accent5"/>
              </a:solidFill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537833-C2DD-49C0-8D21-226CC5223599}"/>
              </a:ext>
            </a:extLst>
          </p:cNvPr>
          <p:cNvSpPr txBox="1"/>
          <p:nvPr/>
        </p:nvSpPr>
        <p:spPr>
          <a:xfrm>
            <a:off x="609600" y="419100"/>
            <a:ext cx="48895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Montserrat"/>
              </a:rPr>
              <a:t>ОТ ДАННЫХ К РЕШЕНИЮ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>
                <a:solidFill>
                  <a:schemeClr val="tx1"/>
                </a:solidFill>
              </a:rPr>
              <a:t>19 типов и 12 627 каналов с явным статусом пригодности.
Прогноз фазы и насоса, наблюдаемые ситуации, исходные свидетельства.
2 191 черновик объединён в 1 621 группу; API v2 сохраняет решения и наряды.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>
                <a:solidFill>
                  <a:schemeClr val="tx1"/>
                </a:solidFill>
              </a:rPr>
              <a:t>Диспетчер разбирает группу, видит источник каждого сигнала и принимает решение.
Историю можно воспроизвести ползунком на восьми сценариях.
Для пилота нужны живой поток и данные о ППР, ремонтах и подтверждённых пожарах.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A754CAE-31FB-41A1-BAFE-ACEFC9C1A9E0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МАСШТАБ ЗАДАЧИ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6AB93A5-FE9E-4AB1-AD78-0ACE7DDFC7C7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EACB04-6BBC-461A-B60F-D8C4138721A9}"/>
              </a:ext>
            </a:extLst>
          </p:cNvPr>
          <p:cNvSpPr>
            <a:spLocks noGrp="1"/>
          </p:cNvSpPr>
          <p:nvPr/>
        </p:nvSpPr>
        <p:spPr>
          <a:xfrm>
            <a:off x="676275" y="1571625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1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41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312,9 млн записей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26205EE-B76B-423B-B1C4-C9B52B69B747}"/>
              </a:ext>
            </a:extLst>
          </p:cNvPr>
          <p:cNvSpPr>
            <a:spLocks noGrp="1"/>
          </p:cNvSpPr>
          <p:nvPr/>
        </p:nvSpPr>
        <p:spPr>
          <a:xfrm>
            <a:off x="685800" y="2390775"/>
            <a:ext cx="100012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Авария в журнале не помечена готовой меткой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41DA47A-C5D7-44ED-8FE6-9B970E810D20}"/>
              </a:ext>
            </a:extLst>
          </p:cNvPr>
          <p:cNvSpPr>
            <a:spLocks noGrp="1"/>
          </p:cNvSpPr>
          <p:nvPr/>
        </p:nvSpPr>
        <p:spPr>
          <a:xfrm>
            <a:off x="666750" y="3238500"/>
            <a:ext cx="3352800" cy="1962150"/>
          </a:xfrm>
          <a:prstGeom prst="rect">
            <a:avLst/>
          </a:prstGeom>
          <a:solidFill>
            <a:srgbClr val="F2F0F5"/>
          </a:solidFill>
          <a:ln w="0">
            <a:noFill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FF8DB3-657F-4521-8799-D1245B1CFB6C}"/>
              </a:ext>
            </a:extLst>
          </p:cNvPr>
          <p:cNvSpPr>
            <a:spLocks noGrp="1"/>
          </p:cNvSpPr>
          <p:nvPr/>
        </p:nvSpPr>
        <p:spPr>
          <a:xfrm>
            <a:off x="4381500" y="3238500"/>
            <a:ext cx="3352800" cy="1962150"/>
          </a:xfrm>
          <a:prstGeom prst="rect">
            <a:avLst/>
          </a:prstGeom>
          <a:solidFill>
            <a:srgbClr val="F2F0F5"/>
          </a:solidFill>
          <a:ln w="0">
            <a:noFill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C85F0C1-D0AC-4BDA-A880-EE132352DD3D}"/>
              </a:ext>
            </a:extLst>
          </p:cNvPr>
          <p:cNvSpPr>
            <a:spLocks noGrp="1"/>
          </p:cNvSpPr>
          <p:nvPr/>
        </p:nvSpPr>
        <p:spPr>
          <a:xfrm>
            <a:off x="8096250" y="3238500"/>
            <a:ext cx="3352800" cy="1962150"/>
          </a:xfrm>
          <a:prstGeom prst="rect">
            <a:avLst/>
          </a:prstGeom>
          <a:solidFill>
            <a:srgbClr val="F2F0F5"/>
          </a:solidFill>
          <a:ln w="0">
            <a:noFill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2337075-5491-4984-93E4-E14D6D1DEBF0}"/>
              </a:ext>
            </a:extLst>
          </p:cNvPr>
          <p:cNvSpPr>
            <a:spLocks noGrp="1"/>
          </p:cNvSpPr>
          <p:nvPr/>
        </p:nvSpPr>
        <p:spPr>
          <a:xfrm>
            <a:off x="895350" y="3476625"/>
            <a:ext cx="2714625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87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487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19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87D3F6A-F666-4887-86DD-727E1B11898F}"/>
              </a:ext>
            </a:extLst>
          </p:cNvPr>
          <p:cNvSpPr>
            <a:spLocks noGrp="1"/>
          </p:cNvSpPr>
          <p:nvPr/>
        </p:nvSpPr>
        <p:spPr>
          <a:xfrm>
            <a:off x="914400" y="4343400"/>
            <a:ext cx="2762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типов датчиков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4644AB2-1885-4B7C-96A8-6982F1CA310F}"/>
              </a:ext>
            </a:extLst>
          </p:cNvPr>
          <p:cNvSpPr>
            <a:spLocks noGrp="1"/>
          </p:cNvSpPr>
          <p:nvPr/>
        </p:nvSpPr>
        <p:spPr>
          <a:xfrm>
            <a:off x="4600575" y="3476625"/>
            <a:ext cx="276225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1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41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12 627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ECF1AE-EC0A-4836-849F-10C75A7F7C98}"/>
              </a:ext>
            </a:extLst>
          </p:cNvPr>
          <p:cNvSpPr>
            <a:spLocks noGrp="1"/>
          </p:cNvSpPr>
          <p:nvPr/>
        </p:nvSpPr>
        <p:spPr>
          <a:xfrm>
            <a:off x="4619625" y="4343400"/>
            <a:ext cx="27908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каналов в истории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FAD38A1-A8C2-4166-9589-390465393A22}"/>
              </a:ext>
            </a:extLst>
          </p:cNvPr>
          <p:cNvSpPr>
            <a:spLocks noGrp="1"/>
          </p:cNvSpPr>
          <p:nvPr/>
        </p:nvSpPr>
        <p:spPr>
          <a:xfrm>
            <a:off x="8334375" y="3476625"/>
            <a:ext cx="276225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1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41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1 142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E10D228-E922-49C4-B11B-69785422922B}"/>
              </a:ext>
            </a:extLst>
          </p:cNvPr>
          <p:cNvSpPr>
            <a:spLocks noGrp="1"/>
          </p:cNvSpPr>
          <p:nvPr/>
        </p:nvSpPr>
        <p:spPr>
          <a:xfrm>
            <a:off x="8353425" y="4343400"/>
            <a:ext cx="2667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канала вне справочника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2D6AC00-E51C-4C55-96D5-AD9157F97C75}"/>
              </a:ext>
            </a:extLst>
          </p:cNvPr>
          <p:cNvSpPr>
            <a:spLocks noGrp="1"/>
          </p:cNvSpPr>
          <p:nvPr/>
        </p:nvSpPr>
        <p:spPr>
          <a:xfrm>
            <a:off x="704850" y="5505450"/>
            <a:ext cx="104775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Мы начали с проверки смысла сигналов и сохранили каналы с неизвестным статусом видимыми.</a:t>
            </a:r>
          </a:p>
        </p:txBody>
      </p:sp>
    </p:spTree>
    <p:extLst>
      <p:ext uri="{BB962C8B-B14F-4D97-AF65-F5344CB8AC3E}">
        <p14:creationId xmlns:p14="http://schemas.microsoft.com/office/powerpoint/2010/main" val="1409447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5ECC28-B52A-42DD-BAA2-C133552C0590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РЕШЕНИЕ 01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E22DB17-BA67-4E86-9C0E-0A45DF2CC10B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B1DF4FA-70D6-46A3-8394-0D2BBA6E7E4D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Каждый тип датчика получил честную роль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174A487-0DDE-4CF8-A904-AADD4D0E85A0}"/>
              </a:ext>
            </a:extLst>
          </p:cNvPr>
          <p:cNvSpPr>
            <a:spLocks noGrp="1"/>
          </p:cNvSpPr>
          <p:nvPr/>
        </p:nvSpPr>
        <p:spPr>
          <a:xfrm>
            <a:off x="552450" y="2428875"/>
            <a:ext cx="3476625" cy="2619375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C68466E-CFC2-4F4E-83D9-A914003E541A}"/>
              </a:ext>
            </a:extLst>
          </p:cNvPr>
          <p:cNvSpPr>
            <a:spLocks noGrp="1"/>
          </p:cNvSpPr>
          <p:nvPr/>
        </p:nvSpPr>
        <p:spPr>
          <a:xfrm>
            <a:off x="552450" y="2428875"/>
            <a:ext cx="3476625" cy="95250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516DEA-4A6C-47C5-9788-6ACAB3BCC56A}"/>
              </a:ext>
            </a:extLst>
          </p:cNvPr>
          <p:cNvSpPr>
            <a:spLocks noGrp="1"/>
          </p:cNvSpPr>
          <p:nvPr/>
        </p:nvSpPr>
        <p:spPr>
          <a:xfrm>
            <a:off x="790575" y="2686050"/>
            <a:ext cx="1524000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5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6B938B5-3DEA-4148-AEFF-1700BF240466}"/>
              </a:ext>
            </a:extLst>
          </p:cNvPr>
          <p:cNvSpPr>
            <a:spLocks noGrp="1"/>
          </p:cNvSpPr>
          <p:nvPr/>
        </p:nvSpPr>
        <p:spPr>
          <a:xfrm>
            <a:off x="790575" y="3619500"/>
            <a:ext cx="3000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Прогноз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FC50AE4-8065-4258-9C58-777636DE1F68}"/>
              </a:ext>
            </a:extLst>
          </p:cNvPr>
          <p:cNvSpPr>
            <a:spLocks noGrp="1"/>
          </p:cNvSpPr>
          <p:nvPr/>
        </p:nvSpPr>
        <p:spPr>
          <a:xfrm>
            <a:off x="790575" y="4114800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Фаза и насос: черновик с модельным баллом и доказательствами.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44F0BCF-C7DA-45C0-A038-57C666639B38}"/>
              </a:ext>
            </a:extLst>
          </p:cNvPr>
          <p:cNvSpPr>
            <a:spLocks noGrp="1"/>
          </p:cNvSpPr>
          <p:nvPr/>
        </p:nvSpPr>
        <p:spPr>
          <a:xfrm>
            <a:off x="4314825" y="2428875"/>
            <a:ext cx="3476625" cy="2619375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53"/>
            </a:solidFill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EA957A-E277-4D20-885E-7A073D6B31F4}"/>
              </a:ext>
            </a:extLst>
          </p:cNvPr>
          <p:cNvSpPr>
            <a:spLocks noGrp="1"/>
          </p:cNvSpPr>
          <p:nvPr/>
        </p:nvSpPr>
        <p:spPr>
          <a:xfrm>
            <a:off x="4314825" y="2428875"/>
            <a:ext cx="3476625" cy="95250"/>
          </a:xfrm>
          <a:prstGeom prst="rect">
            <a:avLst/>
          </a:prstGeom>
          <a:solidFill>
            <a:srgbClr val="FF0053"/>
          </a:solidFill>
          <a:ln w="0">
            <a:noFill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3446052-16D0-4146-9979-81E62B3446CE}"/>
              </a:ext>
            </a:extLst>
          </p:cNvPr>
          <p:cNvSpPr>
            <a:spLocks noGrp="1"/>
          </p:cNvSpPr>
          <p:nvPr/>
        </p:nvSpPr>
        <p:spPr>
          <a:xfrm>
            <a:off x="4552950" y="2686050"/>
            <a:ext cx="1524000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32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532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A695D67-65D7-42D8-A0BA-10AF1AE03E5A}"/>
              </a:ext>
            </a:extLst>
          </p:cNvPr>
          <p:cNvSpPr>
            <a:spLocks noGrp="1"/>
          </p:cNvSpPr>
          <p:nvPr/>
        </p:nvSpPr>
        <p:spPr>
          <a:xfrm>
            <a:off x="4552950" y="3619500"/>
            <a:ext cx="3000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Исследование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EF2A657-D16C-4AA1-89B0-EF66F65A942E}"/>
              </a:ext>
            </a:extLst>
          </p:cNvPr>
          <p:cNvSpPr>
            <a:spLocks noGrp="1"/>
          </p:cNvSpPr>
          <p:nvPr/>
        </p:nvSpPr>
        <p:spPr>
          <a:xfrm>
            <a:off x="4552950" y="4114800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Видим результаты, но не отправляем слабые модели в очередь.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33606E6-BDA3-46DF-9CBD-FCD2D6D672A2}"/>
              </a:ext>
            </a:extLst>
          </p:cNvPr>
          <p:cNvSpPr>
            <a:spLocks noGrp="1"/>
          </p:cNvSpPr>
          <p:nvPr/>
        </p:nvSpPr>
        <p:spPr>
          <a:xfrm>
            <a:off x="8077200" y="2428875"/>
            <a:ext cx="3476625" cy="2619375"/>
          </a:xfrm>
          <a:prstGeom prst="rect">
            <a:avLst/>
          </a:prstGeom>
          <a:solidFill>
            <a:srgbClr val="FFFFFF"/>
          </a:solidFill>
          <a:ln w="19050">
            <a:solidFill>
              <a:srgbClr val="310F53"/>
            </a:solidFill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CF734C1-FEB8-40D0-8597-1577F18ECF1A}"/>
              </a:ext>
            </a:extLst>
          </p:cNvPr>
          <p:cNvSpPr>
            <a:spLocks noGrp="1"/>
          </p:cNvSpPr>
          <p:nvPr/>
        </p:nvSpPr>
        <p:spPr>
          <a:xfrm>
            <a:off x="8077200" y="2428875"/>
            <a:ext cx="3476625" cy="95250"/>
          </a:xfrm>
          <a:prstGeom prst="rect">
            <a:avLst/>
          </a:prstGeom>
          <a:solidFill>
            <a:srgbClr val="310F53"/>
          </a:solidFill>
          <a:ln w="0">
            <a:noFill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537D51A-856F-473D-81ED-A65A1DAC52A4}"/>
              </a:ext>
            </a:extLst>
          </p:cNvPr>
          <p:cNvSpPr>
            <a:spLocks noGrp="1"/>
          </p:cNvSpPr>
          <p:nvPr/>
        </p:nvSpPr>
        <p:spPr>
          <a:xfrm>
            <a:off x="8315325" y="2686050"/>
            <a:ext cx="1524000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3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53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ADA10FE-A54F-4175-B3E3-9C0726C1502F}"/>
              </a:ext>
            </a:extLst>
          </p:cNvPr>
          <p:cNvSpPr>
            <a:spLocks noGrp="1"/>
          </p:cNvSpPr>
          <p:nvPr/>
        </p:nvSpPr>
        <p:spPr>
          <a:xfrm>
            <a:off x="8315325" y="3619500"/>
            <a:ext cx="3000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Наблюдение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3C36643-02AD-4E98-B2F0-45283CC26F99}"/>
              </a:ext>
            </a:extLst>
          </p:cNvPr>
          <p:cNvSpPr>
            <a:spLocks noGrp="1"/>
          </p:cNvSpPr>
          <p:nvPr/>
        </p:nvSpPr>
        <p:spPr>
          <a:xfrm>
            <a:off x="8315325" y="4114800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Данные и статус доступны диспетчеру без выдуманного прогноза.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EFDA825-5240-4055-AF06-727AF343CC2A}"/>
              </a:ext>
            </a:extLst>
          </p:cNvPr>
          <p:cNvSpPr>
            <a:spLocks noGrp="1"/>
          </p:cNvSpPr>
          <p:nvPr/>
        </p:nvSpPr>
        <p:spPr>
          <a:xfrm>
            <a:off x="590550" y="5410200"/>
            <a:ext cx="104775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Новый ID известного типа проходит те же правила. Незнакомый канал не исчезает с экрана.</a:t>
            </a:r>
          </a:p>
        </p:txBody>
      </p:sp>
    </p:spTree>
    <p:extLst>
      <p:ext uri="{BB962C8B-B14F-4D97-AF65-F5344CB8AC3E}">
        <p14:creationId xmlns:p14="http://schemas.microsoft.com/office/powerpoint/2010/main" val="372332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1EF833-0557-460F-BF09-72C3455ECACE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РЕШЕНИЕ 02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71F2ED-EF5C-496F-85FA-E8EF3E6824F4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E4B8BCC-F23C-4978-B71F-70593355F9B6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105727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Одна очередь вместо лавины повторов</a:t>
            </a: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4"/>
          <a:srcRect t="5108" b="5108"/>
          <a:stretch>
            <a:fillRect/>
          </a:stretch>
        </p:blipFill>
        <p:spPr>
          <a:xfrm>
            <a:off x="666750" y="2381250"/>
            <a:ext cx="6619875" cy="334327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689DC9-0960-49BC-A887-29D2BA2D149A}"/>
              </a:ext>
            </a:extLst>
          </p:cNvPr>
          <p:cNvSpPr>
            <a:spLocks noGrp="1"/>
          </p:cNvSpPr>
          <p:nvPr/>
        </p:nvSpPr>
        <p:spPr>
          <a:xfrm>
            <a:off x="7715250" y="2438400"/>
            <a:ext cx="33147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2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42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2 191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E736308-5952-484C-81D0-2D5E927CBC13}"/>
              </a:ext>
            </a:extLst>
          </p:cNvPr>
          <p:cNvSpPr>
            <a:spLocks noGrp="1"/>
          </p:cNvSpPr>
          <p:nvPr/>
        </p:nvSpPr>
        <p:spPr>
          <a:xfrm>
            <a:off x="7734300" y="3143250"/>
            <a:ext cx="34290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исторический черновик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9694E3-66B0-4F87-89B7-47641B169E0A}"/>
              </a:ext>
            </a:extLst>
          </p:cNvPr>
          <p:cNvSpPr>
            <a:spLocks noGrp="1"/>
          </p:cNvSpPr>
          <p:nvPr/>
        </p:nvSpPr>
        <p:spPr>
          <a:xfrm>
            <a:off x="8763000" y="3562350"/>
            <a:ext cx="114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4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↓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A3CEA51-37B1-49CC-A90C-AB8EBE5F0B0F}"/>
              </a:ext>
            </a:extLst>
          </p:cNvPr>
          <p:cNvSpPr>
            <a:spLocks noGrp="1"/>
          </p:cNvSpPr>
          <p:nvPr/>
        </p:nvSpPr>
        <p:spPr>
          <a:xfrm>
            <a:off x="7715250" y="4019550"/>
            <a:ext cx="33147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2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42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1 621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61F441A-65DC-4B27-8BE0-A21B7DD3998A}"/>
              </a:ext>
            </a:extLst>
          </p:cNvPr>
          <p:cNvSpPr>
            <a:spLocks noGrp="1"/>
          </p:cNvSpPr>
          <p:nvPr/>
        </p:nvSpPr>
        <p:spPr>
          <a:xfrm>
            <a:off x="7734300" y="4714875"/>
            <a:ext cx="33337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группа для разбора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D980C94-7D71-45EB-8319-5F8E48F7E2DB}"/>
              </a:ext>
            </a:extLst>
          </p:cNvPr>
          <p:cNvSpPr>
            <a:spLocks noGrp="1"/>
          </p:cNvSpPr>
          <p:nvPr/>
        </p:nvSpPr>
        <p:spPr>
          <a:xfrm>
            <a:off x="666750" y="5915025"/>
            <a:ext cx="101917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Без потолка 10 в день. Пик – 13 групп.</a:t>
            </a:r>
          </a:p>
        </p:txBody>
      </p:sp>
    </p:spTree>
    <p:extLst>
      <p:ext uri="{BB962C8B-B14F-4D97-AF65-F5344CB8AC3E}">
        <p14:creationId xmlns:p14="http://schemas.microsoft.com/office/powerpoint/2010/main" val="59187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AA648B9-19E5-4248-9550-C07B8DC4BA73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РЕШЕНИЕ 03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AC062DE-9A3B-4255-9375-F9F67D0058A2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F43CB58-5512-48FC-9D46-ED04EF07F961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Прогноз можно проверить до решения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79C638-3632-46E9-BE3F-8CE7FDFD2A44}"/>
              </a:ext>
            </a:extLst>
          </p:cNvPr>
          <p:cNvSpPr>
            <a:spLocks noGrp="1"/>
          </p:cNvSpPr>
          <p:nvPr/>
        </p:nvSpPr>
        <p:spPr>
          <a:xfrm>
            <a:off x="571500" y="2409825"/>
            <a:ext cx="6762750" cy="3257550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C07AF8-1E29-4550-A173-AFB558CA7A5D}"/>
              </a:ext>
            </a:extLst>
          </p:cNvPr>
          <p:cNvSpPr>
            <a:spLocks noGrp="1"/>
          </p:cNvSpPr>
          <p:nvPr/>
        </p:nvSpPr>
        <p:spPr>
          <a:xfrm>
            <a:off x="571500" y="2409825"/>
            <a:ext cx="6762750" cy="104775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CEE3445-CA10-411C-9F54-90D0295A7D34}"/>
              </a:ext>
            </a:extLst>
          </p:cNvPr>
          <p:cNvSpPr>
            <a:spLocks noGrp="1"/>
          </p:cNvSpPr>
          <p:nvPr/>
        </p:nvSpPr>
        <p:spPr>
          <a:xfrm>
            <a:off x="857250" y="2714625"/>
            <a:ext cx="6000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ДУ ПС объект Омега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A2B42A6-94A3-40F2-964C-95D6F93AA34C}"/>
              </a:ext>
            </a:extLst>
          </p:cNvPr>
          <p:cNvSpPr>
            <a:spLocks noGrp="1"/>
          </p:cNvSpPr>
          <p:nvPr/>
        </p:nvSpPr>
        <p:spPr>
          <a:xfrm>
            <a:off x="857250" y="3295650"/>
            <a:ext cx="59055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Состояние фазы  ·  канал 178259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E8A2C75-19EA-4837-A142-EDC9677B6F81}"/>
              </a:ext>
            </a:extLst>
          </p:cNvPr>
          <p:cNvSpPr>
            <a:spLocks noGrp="1"/>
          </p:cNvSpPr>
          <p:nvPr/>
        </p:nvSpPr>
        <p:spPr>
          <a:xfrm>
            <a:off x="857250" y="3971925"/>
            <a:ext cx="2047875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7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67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48 ч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29D4706-FEF3-4066-B81D-5F5AF220B47F}"/>
              </a:ext>
            </a:extLst>
          </p:cNvPr>
          <p:cNvSpPr>
            <a:spLocks noGrp="1"/>
          </p:cNvSpPr>
          <p:nvPr/>
        </p:nvSpPr>
        <p:spPr>
          <a:xfrm>
            <a:off x="866775" y="4657725"/>
            <a:ext cx="223837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горизонт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80F3729-0242-4F3B-9A75-506C37FEB125}"/>
              </a:ext>
            </a:extLst>
          </p:cNvPr>
          <p:cNvSpPr>
            <a:spLocks noGrp="1"/>
          </p:cNvSpPr>
          <p:nvPr/>
        </p:nvSpPr>
        <p:spPr>
          <a:xfrm>
            <a:off x="3581400" y="3971925"/>
            <a:ext cx="2552700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6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0,985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998587-5E80-4D78-BE24-413FFB6DFE04}"/>
              </a:ext>
            </a:extLst>
          </p:cNvPr>
          <p:cNvSpPr>
            <a:spLocks noGrp="1"/>
          </p:cNvSpPr>
          <p:nvPr/>
        </p:nvSpPr>
        <p:spPr>
          <a:xfrm>
            <a:off x="3600450" y="4657725"/>
            <a:ext cx="2571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балл модели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6E86750-DD6D-4EC1-B285-836B945B24A7}"/>
              </a:ext>
            </a:extLst>
          </p:cNvPr>
          <p:cNvSpPr>
            <a:spLocks noGrp="1"/>
          </p:cNvSpPr>
          <p:nvPr/>
        </p:nvSpPr>
        <p:spPr>
          <a:xfrm>
            <a:off x="857250" y="5153025"/>
            <a:ext cx="60007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Цель – эпизод SCADA. Балл не равен вероятности физической аварии.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95B1AA-1C0A-42B1-BA5B-F88DC405B297}"/>
              </a:ext>
            </a:extLst>
          </p:cNvPr>
          <p:cNvSpPr>
            <a:spLocks noGrp="1"/>
          </p:cNvSpPr>
          <p:nvPr/>
        </p:nvSpPr>
        <p:spPr>
          <a:xfrm>
            <a:off x="7867650" y="2667000"/>
            <a:ext cx="328612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  Источник и время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B240871-D598-4A9F-9415-410F50B4A8C6}"/>
              </a:ext>
            </a:extLst>
          </p:cNvPr>
          <p:cNvSpPr>
            <a:spLocks noGrp="1"/>
          </p:cNvSpPr>
          <p:nvPr/>
        </p:nvSpPr>
        <p:spPr>
          <a:xfrm>
            <a:off x="7867650" y="3429000"/>
            <a:ext cx="328612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  Исходные записи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2290A47-E566-41D1-BE3C-9B24D90E7E38}"/>
              </a:ext>
            </a:extLst>
          </p:cNvPr>
          <p:cNvSpPr>
            <a:spLocks noGrp="1"/>
          </p:cNvSpPr>
          <p:nvPr/>
        </p:nvSpPr>
        <p:spPr>
          <a:xfrm>
            <a:off x="7867650" y="4191000"/>
            <a:ext cx="3286125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  Решение человека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66EC1D7-6C83-48BD-B56B-A8558A346483}"/>
              </a:ext>
            </a:extLst>
          </p:cNvPr>
          <p:cNvSpPr>
            <a:spLocks noGrp="1"/>
          </p:cNvSpPr>
          <p:nvPr/>
        </p:nvSpPr>
        <p:spPr>
          <a:xfrm>
            <a:off x="7867650" y="4953000"/>
            <a:ext cx="328612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  Наряд после утверждения</a:t>
            </a:r>
          </a:p>
        </p:txBody>
      </p:sp>
    </p:spTree>
    <p:extLst>
      <p:ext uri="{BB962C8B-B14F-4D97-AF65-F5344CB8AC3E}">
        <p14:creationId xmlns:p14="http://schemas.microsoft.com/office/powerpoint/2010/main" val="3747010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8B19993-FE9C-40B8-A07E-F497F766E996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ОБРАТНАЯ СВЯЗЬ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7EF329A-A53C-41EB-9D55-D2742422CE3B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48044AA-A6CB-481C-B133-F68832C0BA7B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109347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Разбор не исчезает после клика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4"/>
          <a:srcRect t="8099" b="8099"/>
          <a:stretch>
            <a:fillRect/>
          </a:stretch>
        </p:blipFill>
        <p:spPr>
          <a:xfrm>
            <a:off x="561975" y="2371725"/>
            <a:ext cx="6324600" cy="298132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42AE66-A20F-495B-B3AB-21BEA0DBDB20}"/>
              </a:ext>
            </a:extLst>
          </p:cNvPr>
          <p:cNvSpPr>
            <a:spLocks noGrp="1"/>
          </p:cNvSpPr>
          <p:nvPr/>
        </p:nvSpPr>
        <p:spPr>
          <a:xfrm>
            <a:off x="7267575" y="2371725"/>
            <a:ext cx="412432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 каждому черновику сохраняем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B85CF22-2B3E-4040-A020-F0E28B7D3EB2}"/>
              </a:ext>
            </a:extLst>
          </p:cNvPr>
          <p:cNvSpPr>
            <a:spLocks noGrp="1"/>
          </p:cNvSpPr>
          <p:nvPr/>
        </p:nvSpPr>
        <p:spPr>
          <a:xfrm>
            <a:off x="7277100" y="3114675"/>
            <a:ext cx="4000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Решение и причину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274BFBF-29DB-4F50-AAC9-E81EB3EE49FC}"/>
              </a:ext>
            </a:extLst>
          </p:cNvPr>
          <p:cNvSpPr>
            <a:spLocks noGrp="1"/>
          </p:cNvSpPr>
          <p:nvPr/>
        </p:nvSpPr>
        <p:spPr>
          <a:xfrm>
            <a:off x="7277100" y="3714750"/>
            <a:ext cx="4000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Автора и время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2A57E55-DC0E-4A8A-86DD-B7BBF05971F1}"/>
              </a:ext>
            </a:extLst>
          </p:cNvPr>
          <p:cNvSpPr>
            <a:spLocks noGrp="1"/>
          </p:cNvSpPr>
          <p:nvPr/>
        </p:nvSpPr>
        <p:spPr>
          <a:xfrm>
            <a:off x="7277100" y="4314825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Связь с исходным draft_id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DA551DF-962C-4B65-A79D-A79B1B5DB346}"/>
              </a:ext>
            </a:extLst>
          </p:cNvPr>
          <p:cNvSpPr>
            <a:spLocks noGrp="1"/>
          </p:cNvSpPr>
          <p:nvPr/>
        </p:nvSpPr>
        <p:spPr>
          <a:xfrm>
            <a:off x="590550" y="5762625"/>
            <a:ext cx="1062037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История разбора уже доступна для анализа качества очереди.</a:t>
            </a:r>
          </a:p>
        </p:txBody>
      </p:sp>
    </p:spTree>
    <p:extLst>
      <p:ext uri="{BB962C8B-B14F-4D97-AF65-F5344CB8AC3E}">
        <p14:creationId xmlns:p14="http://schemas.microsoft.com/office/powerpoint/2010/main" val="1808582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82DA8C-BDCB-4F31-ACD8-968508F5E1F6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ДАННЫЕ ДЛЯ СЛЕДУЮЩЕЙ ВЕРСИИ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A15EBAF-81B9-43A9-80E5-9255173813B0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3D631E2-FDC9-460D-8134-9180EA26DC2C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10715625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Диспетчер помогает измерить пользу модели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C71E402-9C5B-45AE-80D8-A8E7EECEE071}"/>
              </a:ext>
            </a:extLst>
          </p:cNvPr>
          <p:cNvSpPr>
            <a:spLocks noGrp="1"/>
          </p:cNvSpPr>
          <p:nvPr/>
        </p:nvSpPr>
        <p:spPr>
          <a:xfrm>
            <a:off x="723900" y="2495550"/>
            <a:ext cx="28860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Черновик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3E7B2C-A820-40B8-835A-42BCDE6084F0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2867025" cy="1171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тип сигнала, версия модели, балл, исходные записи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BDEAD64-D015-442B-88FE-4FF625E4FE2D}"/>
              </a:ext>
            </a:extLst>
          </p:cNvPr>
          <p:cNvSpPr>
            <a:spLocks noGrp="1"/>
          </p:cNvSpPr>
          <p:nvPr/>
        </p:nvSpPr>
        <p:spPr>
          <a:xfrm>
            <a:off x="4371975" y="2495550"/>
            <a:ext cx="28860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Решение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FB873E8-1306-4093-919B-D9A60B792F38}"/>
              </a:ext>
            </a:extLst>
          </p:cNvPr>
          <p:cNvSpPr>
            <a:spLocks noGrp="1"/>
          </p:cNvSpPr>
          <p:nvPr/>
        </p:nvSpPr>
        <p:spPr>
          <a:xfrm>
            <a:off x="4371975" y="3048000"/>
            <a:ext cx="2867025" cy="1171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одобрено или отклонено, причина, автор, время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A6AB036-01E3-4518-A1F7-C795C398DEF7}"/>
              </a:ext>
            </a:extLst>
          </p:cNvPr>
          <p:cNvSpPr>
            <a:spLocks noGrp="1"/>
          </p:cNvSpPr>
          <p:nvPr/>
        </p:nvSpPr>
        <p:spPr>
          <a:xfrm>
            <a:off x="8020050" y="2495550"/>
            <a:ext cx="28860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Итог работ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4E38575-F55E-4FF8-A0F6-B34DEFEFAB2D}"/>
              </a:ext>
            </a:extLst>
          </p:cNvPr>
          <p:cNvSpPr>
            <a:spLocks noGrp="1"/>
          </p:cNvSpPr>
          <p:nvPr/>
        </p:nvSpPr>
        <p:spPr>
          <a:xfrm>
            <a:off x="8020050" y="3048000"/>
            <a:ext cx="2962275" cy="1171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подтверждённый результат нужен для обучения отказам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63E9FBE-76E0-4125-BC32-A345F54637EC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10325100" cy="28575"/>
          </a:xfrm>
          <a:prstGeom prst="rect">
            <a:avLst/>
          </a:prstGeom>
          <a:solidFill>
            <a:srgbClr val="FF0053"/>
          </a:solidFill>
          <a:ln w="0">
            <a:noFill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7DDC0BD-FD58-49B5-9639-A86BA72B1A3D}"/>
              </a:ext>
            </a:extLst>
          </p:cNvPr>
          <p:cNvSpPr>
            <a:spLocks noGrp="1"/>
          </p:cNvSpPr>
          <p:nvPr/>
        </p:nvSpPr>
        <p:spPr>
          <a:xfrm>
            <a:off x="723900" y="4781550"/>
            <a:ext cx="10229850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Сервис хранит решения. ML-код соединяет журнал с черновиками по draft_id.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CFAD8E4-A569-4488-A06B-B30242812147}"/>
              </a:ext>
            </a:extLst>
          </p:cNvPr>
          <p:cNvSpPr>
            <a:spLocks noGrp="1"/>
          </p:cNvSpPr>
          <p:nvPr/>
        </p:nvSpPr>
        <p:spPr>
          <a:xfrm>
            <a:off x="733425" y="5553075"/>
            <a:ext cx="103060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Для нового обучения нужны реальные решения, экспорт журнала и проверенные итоги работ. Автоматического переобучения сейчас нет.</a:t>
            </a:r>
          </a:p>
        </p:txBody>
      </p:sp>
    </p:spTree>
    <p:extLst>
      <p:ext uri="{BB962C8B-B14F-4D97-AF65-F5344CB8AC3E}">
        <p14:creationId xmlns:p14="http://schemas.microsoft.com/office/powerpoint/2010/main" val="3248693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BC497F7-8DB1-40B5-8F7A-3353FE4BC3C0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УПРАВЛЕНИЕ НАРЯДАМИ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716C8BB-67EB-4C93-B006-1CAD14821E27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FB04122-D307-43DE-90A9-8F27B6F3B5EA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108966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Наряд появляется после решения человека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F788407-B7E0-4E77-BE02-C545363D5FD8}"/>
              </a:ext>
            </a:extLst>
          </p:cNvPr>
          <p:cNvSpPr>
            <a:spLocks noGrp="1"/>
          </p:cNvSpPr>
          <p:nvPr/>
        </p:nvSpPr>
        <p:spPr>
          <a:xfrm>
            <a:off x="590550" y="2466975"/>
            <a:ext cx="10477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EDFFE44-FC31-41D2-92D0-D8E7FD2BB767}"/>
              </a:ext>
            </a:extLst>
          </p:cNvPr>
          <p:cNvSpPr>
            <a:spLocks noGrp="1"/>
          </p:cNvSpPr>
          <p:nvPr/>
        </p:nvSpPr>
        <p:spPr>
          <a:xfrm>
            <a:off x="1790700" y="2486025"/>
            <a:ext cx="371475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Утверждение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B482462-CD97-4B20-A17C-DCC95125BF8D}"/>
              </a:ext>
            </a:extLst>
          </p:cNvPr>
          <p:cNvSpPr>
            <a:spLocks noGrp="1"/>
          </p:cNvSpPr>
          <p:nvPr/>
        </p:nvSpPr>
        <p:spPr>
          <a:xfrm>
            <a:off x="5619750" y="2486025"/>
            <a:ext cx="57531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диспетчер указывает причину по конкретному черновику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431987A-20D0-49B8-BFE6-AE85C6D93629}"/>
              </a:ext>
            </a:extLst>
          </p:cNvPr>
          <p:cNvSpPr>
            <a:spLocks noGrp="1"/>
          </p:cNvSpPr>
          <p:nvPr/>
        </p:nvSpPr>
        <p:spPr>
          <a:xfrm>
            <a:off x="590550" y="3267075"/>
            <a:ext cx="1066800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A56B17E-52C8-458F-A91C-82A39AF1BE23}"/>
              </a:ext>
            </a:extLst>
          </p:cNvPr>
          <p:cNvSpPr>
            <a:spLocks noGrp="1"/>
          </p:cNvSpPr>
          <p:nvPr/>
        </p:nvSpPr>
        <p:spPr>
          <a:xfrm>
            <a:off x="590550" y="3476625"/>
            <a:ext cx="10477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2BC0623-A3BC-496F-8139-3E4AAD3C4720}"/>
              </a:ext>
            </a:extLst>
          </p:cNvPr>
          <p:cNvSpPr>
            <a:spLocks noGrp="1"/>
          </p:cNvSpPr>
          <p:nvPr/>
        </p:nvSpPr>
        <p:spPr>
          <a:xfrm>
            <a:off x="1790700" y="3495675"/>
            <a:ext cx="371475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Создание наряда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D964A36-466B-4F67-9E10-5A67E1A6FD79}"/>
              </a:ext>
            </a:extLst>
          </p:cNvPr>
          <p:cNvSpPr>
            <a:spLocks noGrp="1"/>
          </p:cNvSpPr>
          <p:nvPr/>
        </p:nvSpPr>
        <p:spPr>
          <a:xfrm>
            <a:off x="5619750" y="3495675"/>
            <a:ext cx="57531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отдельное действие, один наряд на один draft_id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8516D9-9546-48C9-BB10-A3C7F7378B40}"/>
              </a:ext>
            </a:extLst>
          </p:cNvPr>
          <p:cNvSpPr>
            <a:spLocks noGrp="1"/>
          </p:cNvSpPr>
          <p:nvPr/>
        </p:nvSpPr>
        <p:spPr>
          <a:xfrm>
            <a:off x="590550" y="4276725"/>
            <a:ext cx="1066800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E457005-ACBA-4E02-A345-984BCC5B442D}"/>
              </a:ext>
            </a:extLst>
          </p:cNvPr>
          <p:cNvSpPr>
            <a:spLocks noGrp="1"/>
          </p:cNvSpPr>
          <p:nvPr/>
        </p:nvSpPr>
        <p:spPr>
          <a:xfrm>
            <a:off x="590550" y="4486275"/>
            <a:ext cx="10477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295FB5-1F64-428C-823C-5CF94487C8C7}"/>
              </a:ext>
            </a:extLst>
          </p:cNvPr>
          <p:cNvSpPr>
            <a:spLocks noGrp="1"/>
          </p:cNvSpPr>
          <p:nvPr/>
        </p:nvSpPr>
        <p:spPr>
          <a:xfrm>
            <a:off x="1790700" y="4505325"/>
            <a:ext cx="3714750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Исправление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18A1D89-0ED5-49D5-8577-648390AAAABF}"/>
              </a:ext>
            </a:extLst>
          </p:cNvPr>
          <p:cNvSpPr>
            <a:spLocks noGrp="1"/>
          </p:cNvSpPr>
          <p:nvPr/>
        </p:nvSpPr>
        <p:spPr>
          <a:xfrm>
            <a:off x="5619750" y="4505325"/>
            <a:ext cx="5753100" cy="581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руководитель добавляет новую запись, старая остаётся в истории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1FBA95E-02A4-400B-A401-96AD97BB9238}"/>
              </a:ext>
            </a:extLst>
          </p:cNvPr>
          <p:cNvSpPr>
            <a:spLocks noGrp="1"/>
          </p:cNvSpPr>
          <p:nvPr/>
        </p:nvSpPr>
        <p:spPr>
          <a:xfrm>
            <a:off x="590550" y="5286375"/>
            <a:ext cx="1066800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A061E14-F760-489B-BA96-BEEFCBE6BD8E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Повторный запрос не создаёт второе решение или второй наряд.</a:t>
            </a:r>
          </a:p>
        </p:txBody>
      </p:sp>
    </p:spTree>
    <p:extLst>
      <p:ext uri="{BB962C8B-B14F-4D97-AF65-F5344CB8AC3E}">
        <p14:creationId xmlns:p14="http://schemas.microsoft.com/office/powerpoint/2010/main" val="270326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DBF186A-CCE9-4062-82EB-B9236E741FDD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ЧЕСТНОЕ ВРЕМЯ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DF9F11-D37D-45C0-9C82-482936460988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13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1A20FF6-578E-42E7-ACA3-3EC8B45EDE56}"/>
              </a:ext>
            </a:extLst>
          </p:cNvPr>
          <p:cNvSpPr>
            <a:spLocks noGrp="1"/>
          </p:cNvSpPr>
          <p:nvPr/>
        </p:nvSpPr>
        <p:spPr>
          <a:xfrm>
            <a:off x="552450" y="1362075"/>
            <a:ext cx="108966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Прогноз видит только прошлое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F0A897-DF1D-400C-9487-35AD0B78F721}"/>
              </a:ext>
            </a:extLst>
          </p:cNvPr>
          <p:cNvSpPr>
            <a:spLocks noGrp="1"/>
          </p:cNvSpPr>
          <p:nvPr/>
        </p:nvSpPr>
        <p:spPr>
          <a:xfrm>
            <a:off x="628650" y="2619375"/>
            <a:ext cx="4762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Время показания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70DCD12-7608-4BDF-A622-DE647D83F9BA}"/>
              </a:ext>
            </a:extLst>
          </p:cNvPr>
          <p:cNvSpPr>
            <a:spLocks noGrp="1"/>
          </p:cNvSpPr>
          <p:nvPr/>
        </p:nvSpPr>
        <p:spPr>
          <a:xfrm>
            <a:off x="638175" y="3219450"/>
            <a:ext cx="48387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когда источник записал значение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51E56FF-F80B-47FE-939C-2C69E5457C88}"/>
              </a:ext>
            </a:extLst>
          </p:cNvPr>
          <p:cNvSpPr>
            <a:spLocks noGrp="1"/>
          </p:cNvSpPr>
          <p:nvPr/>
        </p:nvSpPr>
        <p:spPr>
          <a:xfrm>
            <a:off x="6276975" y="2619375"/>
            <a:ext cx="493395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Время доступности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B5E8E51-17FC-4A0B-90E0-7BF344E7DEFC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49149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когда карточку можно было показать диспетчеру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0CAFA37-997D-4471-A14F-36755617BDAD}"/>
              </a:ext>
            </a:extLst>
          </p:cNvPr>
          <p:cNvSpPr>
            <a:spLocks noGrp="1"/>
          </p:cNvSpPr>
          <p:nvPr/>
        </p:nvSpPr>
        <p:spPr>
          <a:xfrm>
            <a:off x="600075" y="4210050"/>
            <a:ext cx="10648950" cy="28575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0EC62A4-162C-44FD-B278-ACF329B2C32F}"/>
              </a:ext>
            </a:extLst>
          </p:cNvPr>
          <p:cNvSpPr>
            <a:spLocks noGrp="1"/>
          </p:cNvSpPr>
          <p:nvPr/>
        </p:nvSpPr>
        <p:spPr>
          <a:xfrm>
            <a:off x="638175" y="4486275"/>
            <a:ext cx="102965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История и признаки обрезаются на момент сигнала. При перемотке таймлайна будущие карточки скрыты.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A39A62E-12CD-4472-87DC-669404AD71AE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Часовой пояс исходного журнала неизвестен; интерфейс не подписывает эти метки как МСК.</a:t>
            </a:r>
          </a:p>
        </p:txBody>
      </p:sp>
    </p:spTree>
    <p:extLst>
      <p:ext uri="{BB962C8B-B14F-4D97-AF65-F5344CB8AC3E}">
        <p14:creationId xmlns:p14="http://schemas.microsoft.com/office/powerpoint/2010/main" val="404506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A3F61D9-0CB3-4DA9-B371-28D5A5689B77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СОСТОЯНИЕ ОБОРУДОВАНИЯ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9034C5-F3FE-40BD-8664-DA8A8D35B9F7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42D2944-A444-4682-8BD5-42ADF3804FA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106870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Число ИТС не выдумывали. Показали факты.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A3B9E2-1BCE-46F1-BFFC-6F38C597F88A}"/>
              </a:ext>
            </a:extLst>
          </p:cNvPr>
          <p:cNvSpPr>
            <a:spLocks noGrp="1"/>
          </p:cNvSpPr>
          <p:nvPr/>
        </p:nvSpPr>
        <p:spPr>
          <a:xfrm>
            <a:off x="714375" y="2533650"/>
            <a:ext cx="4752975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02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502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378 810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B0C4ED7-C8A1-4692-BE4E-F8FDA12992B1}"/>
              </a:ext>
            </a:extLst>
          </p:cNvPr>
          <p:cNvSpPr>
            <a:spLocks noGrp="1"/>
          </p:cNvSpPr>
          <p:nvPr/>
        </p:nvSpPr>
        <p:spPr>
          <a:xfrm>
            <a:off x="733425" y="3400425"/>
            <a:ext cx="4905375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строк истории каналов по месяцам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2095C2A-5799-4361-A4A3-011E9342114A}"/>
              </a:ext>
            </a:extLst>
          </p:cNvPr>
          <p:cNvSpPr>
            <a:spLocks noGrp="1"/>
          </p:cNvSpPr>
          <p:nvPr/>
        </p:nvSpPr>
        <p:spPr>
          <a:xfrm>
            <a:off x="6667500" y="2533650"/>
            <a:ext cx="3743325" cy="866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5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30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5E3C692-D812-4FF8-8595-507967FC0324}"/>
              </a:ext>
            </a:extLst>
          </p:cNvPr>
          <p:cNvSpPr>
            <a:spLocks noGrp="1"/>
          </p:cNvSpPr>
          <p:nvPr/>
        </p:nvSpPr>
        <p:spPr>
          <a:xfrm>
            <a:off x="6677025" y="3400425"/>
            <a:ext cx="46291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месячных срезов за 2024–2026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7AB65B1-1355-4C44-8813-B381691F100A}"/>
              </a:ext>
            </a:extLst>
          </p:cNvPr>
          <p:cNvSpPr>
            <a:spLocks noGrp="1"/>
          </p:cNvSpPr>
          <p:nvPr/>
        </p:nvSpPr>
        <p:spPr>
          <a:xfrm>
            <a:off x="714375" y="4333875"/>
            <a:ext cx="10306050" cy="28575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8CE6637-679D-4BDF-B3B8-B4FF89F1E235}"/>
              </a:ext>
            </a:extLst>
          </p:cNvPr>
          <p:cNvSpPr>
            <a:spLocks noGrp="1"/>
          </p:cNvSpPr>
          <p:nvPr/>
        </p:nvSpPr>
        <p:spPr>
          <a:xfrm>
            <a:off x="733425" y="4619625"/>
            <a:ext cx="10277475" cy="733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Диспетчер видит последнее показание, молчание канала, конфликтные статусы и исходные события.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758FF3-4B69-4E78-B046-085768245175}"/>
              </a:ext>
            </a:extLst>
          </p:cNvPr>
          <p:cNvSpPr>
            <a:spLocks noGrp="1"/>
          </p:cNvSpPr>
          <p:nvPr/>
        </p:nvSpPr>
        <p:spPr>
          <a:xfrm>
            <a:off x="733425" y="5638800"/>
            <a:ext cx="102679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Для физического ИТС нужны сведения о ремонтах, возрасте и состоянии оборудования, которых в архиве нет.</a:t>
            </a:r>
          </a:p>
        </p:txBody>
      </p:sp>
    </p:spTree>
    <p:extLst>
      <p:ext uri="{BB962C8B-B14F-4D97-AF65-F5344CB8AC3E}">
        <p14:creationId xmlns:p14="http://schemas.microsoft.com/office/powerpoint/2010/main" val="3356008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D281F7C-B93B-40E5-96FE-AF24D5EA0C05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 ML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08B6CCD-32B4-4EED-80F3-EBE9A8735CB8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15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6C4107C-5515-4DFF-AFD8-A6B0CB0F8A40}"/>
              </a:ext>
            </a:extLst>
          </p:cNvPr>
          <p:cNvSpPr>
            <a:spLocks noGrp="1"/>
          </p:cNvSpPr>
          <p:nvPr/>
        </p:nvSpPr>
        <p:spPr>
          <a:xfrm>
            <a:off x="552450" y="1400175"/>
            <a:ext cx="109537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Сильный результат есть. Слабый тоже показан.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2825DEB-7C51-4065-BEA2-5481DE4F3954}"/>
              </a:ext>
            </a:extLst>
          </p:cNvPr>
          <p:cNvSpPr>
            <a:spLocks noGrp="1"/>
          </p:cNvSpPr>
          <p:nvPr/>
        </p:nvSpPr>
        <p:spPr>
          <a:xfrm>
            <a:off x="571500" y="2419350"/>
            <a:ext cx="5267325" cy="2619375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837FF89-1C66-41F2-B404-80875EF91254}"/>
              </a:ext>
            </a:extLst>
          </p:cNvPr>
          <p:cNvSpPr>
            <a:spLocks noGrp="1"/>
          </p:cNvSpPr>
          <p:nvPr/>
        </p:nvSpPr>
        <p:spPr>
          <a:xfrm>
            <a:off x="6105525" y="2419350"/>
            <a:ext cx="5267325" cy="2619375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53"/>
            </a:solidFill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8E860E9-3396-4629-B70A-E10C830E8854}"/>
              </a:ext>
            </a:extLst>
          </p:cNvPr>
          <p:cNvSpPr>
            <a:spLocks noGrp="1"/>
          </p:cNvSpPr>
          <p:nvPr/>
        </p:nvSpPr>
        <p:spPr>
          <a:xfrm>
            <a:off x="819150" y="264795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Фаза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18803CD-FD80-456E-A17D-A4EA07E6FEDF}"/>
              </a:ext>
            </a:extLst>
          </p:cNvPr>
          <p:cNvSpPr>
            <a:spLocks noGrp="1"/>
          </p:cNvSpPr>
          <p:nvPr/>
        </p:nvSpPr>
        <p:spPr>
          <a:xfrm>
            <a:off x="819150" y="3171825"/>
            <a:ext cx="423862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5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45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0,966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C0A60AF-AAC9-40DA-B055-E6BE08560BBE}"/>
              </a:ext>
            </a:extLst>
          </p:cNvPr>
          <p:cNvSpPr>
            <a:spLocks noGrp="1"/>
          </p:cNvSpPr>
          <p:nvPr/>
        </p:nvSpPr>
        <p:spPr>
          <a:xfrm>
            <a:off x="838200" y="3905250"/>
            <a:ext cx="185737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ROC-AUC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06B1900-E6A0-4C2B-94D4-234706907088}"/>
              </a:ext>
            </a:extLst>
          </p:cNvPr>
          <p:cNvSpPr>
            <a:spLocks noGrp="1"/>
          </p:cNvSpPr>
          <p:nvPr/>
        </p:nvSpPr>
        <p:spPr>
          <a:xfrm>
            <a:off x="838200" y="4362450"/>
            <a:ext cx="38195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AP 0,716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3E70F94-F3CA-4640-A0AA-252EA00EF5D6}"/>
              </a:ext>
            </a:extLst>
          </p:cNvPr>
          <p:cNvSpPr>
            <a:spLocks noGrp="1"/>
          </p:cNvSpPr>
          <p:nvPr/>
        </p:nvSpPr>
        <p:spPr>
          <a:xfrm>
            <a:off x="6343650" y="264795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Насос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B0463C5-D20E-4FBF-BA1C-E940F41F0A90}"/>
              </a:ext>
            </a:extLst>
          </p:cNvPr>
          <p:cNvSpPr>
            <a:spLocks noGrp="1"/>
          </p:cNvSpPr>
          <p:nvPr/>
        </p:nvSpPr>
        <p:spPr>
          <a:xfrm>
            <a:off x="6343650" y="3171825"/>
            <a:ext cx="423862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5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45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0,587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EE7661E-3D7A-4866-BD73-538367FAB856}"/>
              </a:ext>
            </a:extLst>
          </p:cNvPr>
          <p:cNvSpPr>
            <a:spLocks noGrp="1"/>
          </p:cNvSpPr>
          <p:nvPr/>
        </p:nvSpPr>
        <p:spPr>
          <a:xfrm>
            <a:off x="6362700" y="3905250"/>
            <a:ext cx="185737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ROC-AUC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F758ABD-01BA-4E75-B1D5-9588111B864B}"/>
              </a:ext>
            </a:extLst>
          </p:cNvPr>
          <p:cNvSpPr>
            <a:spLocks noGrp="1"/>
          </p:cNvSpPr>
          <p:nvPr/>
        </p:nvSpPr>
        <p:spPr>
          <a:xfrm>
            <a:off x="6362700" y="4362450"/>
            <a:ext cx="38195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AP 0,139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2943E6A-54CB-46F3-8FDF-1843643BF979}"/>
              </a:ext>
            </a:extLst>
          </p:cNvPr>
          <p:cNvSpPr>
            <a:spLocks noGrp="1"/>
          </p:cNvSpPr>
          <p:nvPr/>
        </p:nvSpPr>
        <p:spPr>
          <a:xfrm>
            <a:off x="600075" y="5391150"/>
            <a:ext cx="10668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Временная проверка измеряет будущий эпизод SCADA. Физический отказ не подтверждён данными.</a:t>
            </a:r>
          </a:p>
        </p:txBody>
      </p:sp>
    </p:spTree>
    <p:extLst>
      <p:ext uri="{BB962C8B-B14F-4D97-AF65-F5344CB8AC3E}">
        <p14:creationId xmlns:p14="http://schemas.microsoft.com/office/powerpoint/2010/main" val="3028046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3A20D76-D00C-4B02-98E2-DBE5A5BA1022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ПОЖАРНЫЙ РАЗДЕЛ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2754FA2-27C5-46D2-84E1-0AA421FAA232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16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8C0C70-4F3E-4DFF-8B11-11EC171B7BCE}"/>
              </a:ext>
            </a:extLst>
          </p:cNvPr>
          <p:cNvSpPr>
            <a:spLocks noGrp="1"/>
          </p:cNvSpPr>
          <p:nvPr/>
        </p:nvSpPr>
        <p:spPr>
          <a:xfrm>
            <a:off x="647700" y="1514475"/>
            <a:ext cx="107632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Дымовые сигналы показали отдельно от пожаров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709B83-E300-47DC-AB97-06169F4F4C0F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47625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8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48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42 416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2D11156-688D-4CB5-9F1F-56D03F50CF7A}"/>
              </a:ext>
            </a:extLst>
          </p:cNvPr>
          <p:cNvSpPr>
            <a:spLocks noGrp="1"/>
          </p:cNvSpPr>
          <p:nvPr/>
        </p:nvSpPr>
        <p:spPr>
          <a:xfrm>
            <a:off x="733425" y="3333750"/>
            <a:ext cx="49815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сообщений датчиков дыма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95F055-7D5D-4640-B221-6718C73E95BC}"/>
              </a:ext>
            </a:extLst>
          </p:cNvPr>
          <p:cNvSpPr>
            <a:spLocks noGrp="1"/>
          </p:cNvSpPr>
          <p:nvPr/>
        </p:nvSpPr>
        <p:spPr>
          <a:xfrm>
            <a:off x="704850" y="4029075"/>
            <a:ext cx="47625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0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40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15 458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4D176A9-6455-4925-BE1F-4B04F7A4B771}"/>
              </a:ext>
            </a:extLst>
          </p:cNvPr>
          <p:cNvSpPr>
            <a:spLocks noGrp="1"/>
          </p:cNvSpPr>
          <p:nvPr/>
        </p:nvSpPr>
        <p:spPr>
          <a:xfrm>
            <a:off x="723900" y="4724400"/>
            <a:ext cx="48387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локальных карточек для разбора</a:t>
            </a: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/>
          <a:srcRect t="1429" b="1429"/>
          <a:stretch>
            <a:fillRect/>
          </a:stretch>
        </p:blipFill>
        <p:spPr>
          <a:xfrm>
            <a:off x="5953125" y="2390775"/>
            <a:ext cx="5334000" cy="2914650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A077A3-F2B9-4785-9274-BA868CCDA5AF}"/>
              </a:ext>
            </a:extLst>
          </p:cNvPr>
          <p:cNvSpPr>
            <a:spLocks noGrp="1"/>
          </p:cNvSpPr>
          <p:nvPr/>
        </p:nvSpPr>
        <p:spPr>
          <a:xfrm>
            <a:off x="714375" y="5581650"/>
            <a:ext cx="10382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Один телеметрический кандидат. Реестр подтверждённых пожаров заказчик не передал.</a:t>
            </a:r>
          </a:p>
        </p:txBody>
      </p:sp>
    </p:spTree>
    <p:extLst>
      <p:ext uri="{BB962C8B-B14F-4D97-AF65-F5344CB8AC3E}">
        <p14:creationId xmlns:p14="http://schemas.microsoft.com/office/powerpoint/2010/main" val="323655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C6916AF-534C-4F62-8277-90A5F3AE7A68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РЕШЕНИЕ 04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521401E-A16D-4CD7-9800-5332A13B5232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17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C99B288-6C22-442C-82A3-24C7D635162F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108585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Ползунок не показывает события из будущего</a:t>
            </a: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4"/>
          <a:srcRect t="6190" b="6190"/>
          <a:stretch>
            <a:fillRect/>
          </a:stretch>
        </p:blipFill>
        <p:spPr>
          <a:xfrm>
            <a:off x="552450" y="2190750"/>
            <a:ext cx="8001000" cy="394335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4C4A1C4-4EB9-4BD6-9DCE-12FE55C32194}"/>
              </a:ext>
            </a:extLst>
          </p:cNvPr>
          <p:cNvSpPr>
            <a:spLocks noGrp="1"/>
          </p:cNvSpPr>
          <p:nvPr/>
        </p:nvSpPr>
        <p:spPr>
          <a:xfrm>
            <a:off x="9039225" y="2428875"/>
            <a:ext cx="2143125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77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577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43BA2F2-50F2-429F-A07D-155CE13F566B}"/>
              </a:ext>
            </a:extLst>
          </p:cNvPr>
          <p:cNvSpPr>
            <a:spLocks noGrp="1"/>
          </p:cNvSpPr>
          <p:nvPr/>
        </p:nvSpPr>
        <p:spPr>
          <a:xfrm>
            <a:off x="9058275" y="3343275"/>
            <a:ext cx="25908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проверенных сценариев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A86D2DC-8642-4FCA-B718-891F61AA3DAA}"/>
              </a:ext>
            </a:extLst>
          </p:cNvPr>
          <p:cNvSpPr>
            <a:spLocks noGrp="1"/>
          </p:cNvSpPr>
          <p:nvPr/>
        </p:nvSpPr>
        <p:spPr>
          <a:xfrm>
            <a:off x="9058275" y="4352925"/>
            <a:ext cx="2476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Шаги, пауза, скорость и переход к значимому сигналу.</a:t>
            </a:r>
          </a:p>
        </p:txBody>
      </p:sp>
    </p:spTree>
    <p:extLst>
      <p:ext uri="{BB962C8B-B14F-4D97-AF65-F5344CB8AC3E}">
        <p14:creationId xmlns:p14="http://schemas.microsoft.com/office/powerpoint/2010/main" val="3699292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EAD677A-76A2-4234-9AFB-F34111DB4C5C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ГОТОВЫЙ СЕРВИС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4E840CB-FC4F-4330-A6FE-2E0A8999211F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18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0524B80-D49C-474D-833A-C0BA2F41F9D0}"/>
              </a:ext>
            </a:extLst>
          </p:cNvPr>
          <p:cNvSpPr>
            <a:spLocks noGrp="1"/>
          </p:cNvSpPr>
          <p:nvPr/>
        </p:nvSpPr>
        <p:spPr>
          <a:xfrm>
            <a:off x="552450" y="1371600"/>
            <a:ext cx="10858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Модель стала рабочим местом диспетчера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0EC515A-6756-4A38-A12E-B4330D5687BD}"/>
              </a:ext>
            </a:extLst>
          </p:cNvPr>
          <p:cNvSpPr>
            <a:spLocks noGrp="1"/>
          </p:cNvSpPr>
          <p:nvPr/>
        </p:nvSpPr>
        <p:spPr>
          <a:xfrm>
            <a:off x="561975" y="2409825"/>
            <a:ext cx="3476625" cy="2905125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rcRect l="7568" r="7568"/>
          <a:stretch>
            <a:fillRect/>
          </a:stretch>
        </p:blipFill>
        <p:spPr>
          <a:xfrm>
            <a:off x="647700" y="2495550"/>
            <a:ext cx="3305175" cy="21907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9AB5529-66AC-4DBF-B139-924E78695213}"/>
              </a:ext>
            </a:extLst>
          </p:cNvPr>
          <p:cNvSpPr>
            <a:spLocks noGrp="1"/>
          </p:cNvSpPr>
          <p:nvPr/>
        </p:nvSpPr>
        <p:spPr>
          <a:xfrm>
            <a:off x="714375" y="4829175"/>
            <a:ext cx="31337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Обзор и нагрузка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B4B51C0-C5A4-4225-AB62-D1F1413438B6}"/>
              </a:ext>
            </a:extLst>
          </p:cNvPr>
          <p:cNvSpPr>
            <a:spLocks noGrp="1"/>
          </p:cNvSpPr>
          <p:nvPr/>
        </p:nvSpPr>
        <p:spPr>
          <a:xfrm>
            <a:off x="4352925" y="2409825"/>
            <a:ext cx="3476625" cy="2905125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rcRect l="7568" r="7568"/>
          <a:stretch>
            <a:fillRect/>
          </a:stretch>
        </p:blipFill>
        <p:spPr>
          <a:xfrm>
            <a:off x="4438650" y="2495550"/>
            <a:ext cx="3305175" cy="2190750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25ECAC5-0470-4AD9-9B14-45319A8FAF2B}"/>
              </a:ext>
            </a:extLst>
          </p:cNvPr>
          <p:cNvSpPr>
            <a:spLocks noGrp="1"/>
          </p:cNvSpPr>
          <p:nvPr/>
        </p:nvSpPr>
        <p:spPr>
          <a:xfrm>
            <a:off x="4505325" y="4829175"/>
            <a:ext cx="31337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Качество и динамика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0DCE383-B71E-45FA-932C-920BB050A9B9}"/>
              </a:ext>
            </a:extLst>
          </p:cNvPr>
          <p:cNvSpPr>
            <a:spLocks noGrp="1"/>
          </p:cNvSpPr>
          <p:nvPr/>
        </p:nvSpPr>
        <p:spPr>
          <a:xfrm>
            <a:off x="8143875" y="2409825"/>
            <a:ext cx="3476625" cy="2905125"/>
          </a:xfrm>
          <a:prstGeom prst="rect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</p:spPr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6"/>
          <a:srcRect l="7568" r="7568"/>
          <a:stretch>
            <a:fillRect/>
          </a:stretch>
        </p:blipFill>
        <p:spPr>
          <a:xfrm>
            <a:off x="8229600" y="2495550"/>
            <a:ext cx="3305175" cy="2190750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4101728-2B1B-4F34-B3DC-2E76F31DA4A2}"/>
              </a:ext>
            </a:extLst>
          </p:cNvPr>
          <p:cNvSpPr>
            <a:spLocks noGrp="1"/>
          </p:cNvSpPr>
          <p:nvPr/>
        </p:nvSpPr>
        <p:spPr>
          <a:xfrm>
            <a:off x="8296275" y="4829175"/>
            <a:ext cx="31337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Ситуации и источники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E374496-3E48-47C2-B68D-A32B940AC0AB}"/>
              </a:ext>
            </a:extLst>
          </p:cNvPr>
          <p:cNvSpPr>
            <a:spLocks noGrp="1"/>
          </p:cNvSpPr>
          <p:nvPr/>
        </p:nvSpPr>
        <p:spPr>
          <a:xfrm>
            <a:off x="590550" y="5591175"/>
            <a:ext cx="10620375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API v2 связывает каналы, события, группы, решения и наряды. Интерфейс читает один контракт.</a:t>
            </a:r>
          </a:p>
        </p:txBody>
      </p:sp>
    </p:spTree>
    <p:extLst>
      <p:ext uri="{BB962C8B-B14F-4D97-AF65-F5344CB8AC3E}">
        <p14:creationId xmlns:p14="http://schemas.microsoft.com/office/powerpoint/2010/main" val="3273081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61C5032-4E1F-4794-8349-9D6AB58BD171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 РЕШЕНИЯ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A1148C7-1C12-47D5-96D7-F3F698CDA731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19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A684986-75F4-4E2A-8F92-143368A1E24A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1095375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У каждого решения есть путь назад к показанию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2C05B2A-FD07-45FE-A560-CAEF5646100E}"/>
              </a:ext>
            </a:extLst>
          </p:cNvPr>
          <p:cNvSpPr>
            <a:spLocks noGrp="1"/>
          </p:cNvSpPr>
          <p:nvPr/>
        </p:nvSpPr>
        <p:spPr>
          <a:xfrm>
            <a:off x="581025" y="2476500"/>
            <a:ext cx="22288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1DBEF3D-954F-435E-910F-D33809C89A4B}"/>
              </a:ext>
            </a:extLst>
          </p:cNvPr>
          <p:cNvSpPr>
            <a:spLocks noGrp="1"/>
          </p:cNvSpPr>
          <p:nvPr/>
        </p:nvSpPr>
        <p:spPr>
          <a:xfrm>
            <a:off x="581025" y="3314700"/>
            <a:ext cx="2190750" cy="38100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A4BF3AC-05F6-4896-BCB6-11FCAD5A00A2}"/>
              </a:ext>
            </a:extLst>
          </p:cNvPr>
          <p:cNvSpPr>
            <a:spLocks noGrp="1"/>
          </p:cNvSpPr>
          <p:nvPr/>
        </p:nvSpPr>
        <p:spPr>
          <a:xfrm>
            <a:off x="581025" y="3524250"/>
            <a:ext cx="238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Событие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B828F4D-218C-411A-A20F-49EDF7A60576}"/>
              </a:ext>
            </a:extLst>
          </p:cNvPr>
          <p:cNvSpPr>
            <a:spLocks noGrp="1"/>
          </p:cNvSpPr>
          <p:nvPr/>
        </p:nvSpPr>
        <p:spPr>
          <a:xfrm>
            <a:off x="581025" y="4086225"/>
            <a:ext cx="2324100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значение, статус, время, канал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727889C-ED9B-48AB-B381-3731B6F34409}"/>
              </a:ext>
            </a:extLst>
          </p:cNvPr>
          <p:cNvSpPr>
            <a:spLocks noGrp="1"/>
          </p:cNvSpPr>
          <p:nvPr/>
        </p:nvSpPr>
        <p:spPr>
          <a:xfrm>
            <a:off x="3371850" y="2476500"/>
            <a:ext cx="22288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D12B9FB-70E4-4F49-AED3-29FC0C7F658B}"/>
              </a:ext>
            </a:extLst>
          </p:cNvPr>
          <p:cNvSpPr>
            <a:spLocks noGrp="1"/>
          </p:cNvSpPr>
          <p:nvPr/>
        </p:nvSpPr>
        <p:spPr>
          <a:xfrm>
            <a:off x="3371850" y="3314700"/>
            <a:ext cx="2190750" cy="38100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ACC63B0-595D-4106-BA92-CE901070648B}"/>
              </a:ext>
            </a:extLst>
          </p:cNvPr>
          <p:cNvSpPr>
            <a:spLocks noGrp="1"/>
          </p:cNvSpPr>
          <p:nvPr/>
        </p:nvSpPr>
        <p:spPr>
          <a:xfrm>
            <a:off x="3371850" y="3524250"/>
            <a:ext cx="238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Контекст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917B146-7B96-4A0D-A8B2-54469102B238}"/>
              </a:ext>
            </a:extLst>
          </p:cNvPr>
          <p:cNvSpPr>
            <a:spLocks noGrp="1"/>
          </p:cNvSpPr>
          <p:nvPr/>
        </p:nvSpPr>
        <p:spPr>
          <a:xfrm>
            <a:off x="3371850" y="4086225"/>
            <a:ext cx="2324100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история только до этого момента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0A6CC93-C39E-4312-B128-4AE9092B37B0}"/>
              </a:ext>
            </a:extLst>
          </p:cNvPr>
          <p:cNvSpPr>
            <a:spLocks noGrp="1"/>
          </p:cNvSpPr>
          <p:nvPr/>
        </p:nvSpPr>
        <p:spPr>
          <a:xfrm>
            <a:off x="6153150" y="2476500"/>
            <a:ext cx="22288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D43C275-28F0-4D6C-96E6-9FB1401775F3}"/>
              </a:ext>
            </a:extLst>
          </p:cNvPr>
          <p:cNvSpPr>
            <a:spLocks noGrp="1"/>
          </p:cNvSpPr>
          <p:nvPr/>
        </p:nvSpPr>
        <p:spPr>
          <a:xfrm>
            <a:off x="6153150" y="3314700"/>
            <a:ext cx="2190750" cy="38100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D218E6C-D1FC-43B5-9E5D-883686C974EB}"/>
              </a:ext>
            </a:extLst>
          </p:cNvPr>
          <p:cNvSpPr>
            <a:spLocks noGrp="1"/>
          </p:cNvSpPr>
          <p:nvPr/>
        </p:nvSpPr>
        <p:spPr>
          <a:xfrm>
            <a:off x="6153150" y="3524250"/>
            <a:ext cx="238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Карточка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93CBB83-7E2F-4F9A-95E5-A07D6E06B943}"/>
              </a:ext>
            </a:extLst>
          </p:cNvPr>
          <p:cNvSpPr>
            <a:spLocks noGrp="1"/>
          </p:cNvSpPr>
          <p:nvPr/>
        </p:nvSpPr>
        <p:spPr>
          <a:xfrm>
            <a:off x="6153150" y="4086225"/>
            <a:ext cx="2324100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модель или наблюдаемый факт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E48A4C0-0FE0-487C-9666-3519AE717068}"/>
              </a:ext>
            </a:extLst>
          </p:cNvPr>
          <p:cNvSpPr>
            <a:spLocks noGrp="1"/>
          </p:cNvSpPr>
          <p:nvPr/>
        </p:nvSpPr>
        <p:spPr>
          <a:xfrm>
            <a:off x="8943975" y="2476500"/>
            <a:ext cx="22288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39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F86DED3-CBD8-46A5-99B0-8E554CA342A7}"/>
              </a:ext>
            </a:extLst>
          </p:cNvPr>
          <p:cNvSpPr>
            <a:spLocks noGrp="1"/>
          </p:cNvSpPr>
          <p:nvPr/>
        </p:nvSpPr>
        <p:spPr>
          <a:xfrm>
            <a:off x="8943975" y="3314700"/>
            <a:ext cx="2190750" cy="38100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F80DE57-AE41-490F-BC0D-EFD40F1D4F3E}"/>
              </a:ext>
            </a:extLst>
          </p:cNvPr>
          <p:cNvSpPr>
            <a:spLocks noGrp="1"/>
          </p:cNvSpPr>
          <p:nvPr/>
        </p:nvSpPr>
        <p:spPr>
          <a:xfrm>
            <a:off x="8943975" y="3524250"/>
            <a:ext cx="238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Диспетчер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AA44D1A-0511-4AAD-9187-167AE94FE438}"/>
              </a:ext>
            </a:extLst>
          </p:cNvPr>
          <p:cNvSpPr>
            <a:spLocks noGrp="1"/>
          </p:cNvSpPr>
          <p:nvPr/>
        </p:nvSpPr>
        <p:spPr>
          <a:xfrm>
            <a:off x="8943975" y="4086225"/>
            <a:ext cx="2324100" cy="828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решение и отдельный наряд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835BC2-56A8-415B-B2CC-ED056D257E8F}"/>
              </a:ext>
            </a:extLst>
          </p:cNvPr>
          <p:cNvSpPr>
            <a:spLocks noGrp="1"/>
          </p:cNvSpPr>
          <p:nvPr/>
        </p:nvSpPr>
        <p:spPr>
          <a:xfrm>
            <a:off x="590550" y="5400675"/>
            <a:ext cx="103822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Черновик хранит исходные записи и время доступности. Группа убирает повторы, но сохраняет каждый draft_id.</a:t>
            </a:r>
          </a:p>
        </p:txBody>
      </p:sp>
    </p:spTree>
    <p:extLst>
      <p:ext uri="{BB962C8B-B14F-4D97-AF65-F5344CB8AC3E}">
        <p14:creationId xmlns:p14="http://schemas.microsoft.com/office/powerpoint/2010/main" val="3506704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49419C-7028-4A3C-BA24-4C4236864C1A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НОВЫЕ КАНАЛЫ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4424C92-AFC4-4C1C-9037-487F76174915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20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E428DD-49A9-4420-B170-E4FD4D8B45E2}"/>
              </a:ext>
            </a:extLst>
          </p:cNvPr>
          <p:cNvSpPr>
            <a:spLocks noGrp="1"/>
          </p:cNvSpPr>
          <p:nvPr/>
        </p:nvSpPr>
        <p:spPr>
          <a:xfrm>
            <a:off x="542925" y="1323975"/>
            <a:ext cx="10953750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Новый канал получает проверку, а не молчание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89697F6-0B91-4662-956D-A1A3D1243AD1}"/>
              </a:ext>
            </a:extLst>
          </p:cNvPr>
          <p:cNvSpPr>
            <a:spLocks noGrp="1"/>
          </p:cNvSpPr>
          <p:nvPr/>
        </p:nvSpPr>
        <p:spPr>
          <a:xfrm>
            <a:off x="590550" y="2390775"/>
            <a:ext cx="46291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4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54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12 627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A4F3B4-924C-47B2-AF5B-F35A246290B3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42767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каналов в истории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DFB5348-B244-463B-A70A-AA5920D7FE47}"/>
              </a:ext>
            </a:extLst>
          </p:cNvPr>
          <p:cNvSpPr>
            <a:spLocks noGrp="1"/>
          </p:cNvSpPr>
          <p:nvPr/>
        </p:nvSpPr>
        <p:spPr>
          <a:xfrm>
            <a:off x="6210300" y="2390775"/>
            <a:ext cx="4581525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54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54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1 142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01B4D0F-3C7D-4679-A3DC-4743A1B98069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46482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без записи в справочнике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96CDD2A-0B75-49A2-ABAE-69D3CEA450E9}"/>
              </a:ext>
            </a:extLst>
          </p:cNvPr>
          <p:cNvSpPr>
            <a:spLocks noGrp="1"/>
          </p:cNvSpPr>
          <p:nvPr/>
        </p:nvSpPr>
        <p:spPr>
          <a:xfrm>
            <a:off x="590550" y="4076700"/>
            <a:ext cx="10572750" cy="28575"/>
          </a:xfrm>
          <a:prstGeom prst="rect">
            <a:avLst/>
          </a:prstGeom>
          <a:solidFill>
            <a:srgbClr val="520978"/>
          </a:solidFill>
          <a:ln w="0">
            <a:noFill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9E1DE5-423C-43E1-B3B3-2A00A308A23D}"/>
              </a:ext>
            </a:extLst>
          </p:cNvPr>
          <p:cNvSpPr>
            <a:spLocks noGrp="1"/>
          </p:cNvSpPr>
          <p:nvPr/>
        </p:nvSpPr>
        <p:spPr>
          <a:xfrm>
            <a:off x="600075" y="4333875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Известный тип + достаточная история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FDB0B3A-FBBE-4CD8-9A41-CA5FCADE1AAD}"/>
              </a:ext>
            </a:extLst>
          </p:cNvPr>
          <p:cNvSpPr>
            <a:spLocks noGrp="1"/>
          </p:cNvSpPr>
          <p:nvPr/>
        </p:nvSpPr>
        <p:spPr>
          <a:xfrm>
            <a:off x="600075" y="4876800"/>
            <a:ext cx="5000625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расчёт по правилам типа, даже если ID раньше не встречался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EC7D0D6-4C83-423A-BE28-E03F32B13540}"/>
              </a:ext>
            </a:extLst>
          </p:cNvPr>
          <p:cNvSpPr>
            <a:spLocks noGrp="1"/>
          </p:cNvSpPr>
          <p:nvPr/>
        </p:nvSpPr>
        <p:spPr>
          <a:xfrm>
            <a:off x="6191250" y="4333875"/>
            <a:ext cx="49720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Неизвестный тип или пустая история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DFBB841-B9BC-44E2-B9DF-FA5D3493076F}"/>
              </a:ext>
            </a:extLst>
          </p:cNvPr>
          <p:cNvSpPr>
            <a:spLocks noGrp="1"/>
          </p:cNvSpPr>
          <p:nvPr/>
        </p:nvSpPr>
        <p:spPr>
          <a:xfrm>
            <a:off x="6191250" y="4876800"/>
            <a:ext cx="5000625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видимый статус и причина, без выдуманного прогноза</a:t>
            </a:r>
          </a:p>
        </p:txBody>
      </p:sp>
    </p:spTree>
    <p:extLst>
      <p:ext uri="{BB962C8B-B14F-4D97-AF65-F5344CB8AC3E}">
        <p14:creationId xmlns:p14="http://schemas.microsoft.com/office/powerpoint/2010/main" val="40818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33E12-FFEA-4D50-A5D7-C0A88220298B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НЕ ВЫПУСТИЛИ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511EDC8-ABF5-4701-8DA1-669C24DBD4AD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AECF1C8-FD4D-49F4-927D-2E7EC2DF33AE}"/>
              </a:ext>
            </a:extLst>
          </p:cNvPr>
          <p:cNvSpPr>
            <a:spLocks noGrp="1"/>
          </p:cNvSpPr>
          <p:nvPr/>
        </p:nvSpPr>
        <p:spPr>
          <a:xfrm>
            <a:off x="647700" y="1438275"/>
            <a:ext cx="1081087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0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Мы проверяли и останавливали слабые гипотезы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45F4AEE-C9AB-4631-A2C4-8FC282FC3E0F}"/>
              </a:ext>
            </a:extLst>
          </p:cNvPr>
          <p:cNvSpPr>
            <a:spLocks noGrp="1"/>
          </p:cNvSpPr>
          <p:nvPr/>
        </p:nvSpPr>
        <p:spPr>
          <a:xfrm>
            <a:off x="695325" y="3171825"/>
            <a:ext cx="1057275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B14B2D7-11C1-4434-B523-CCB788DE1336}"/>
              </a:ext>
            </a:extLst>
          </p:cNvPr>
          <p:cNvSpPr>
            <a:spLocks noGrp="1"/>
          </p:cNvSpPr>
          <p:nvPr/>
        </p:nvSpPr>
        <p:spPr>
          <a:xfrm>
            <a:off x="723900" y="2457450"/>
            <a:ext cx="28670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Температура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BA687D-63DC-4FCC-AA9E-BC2FAEEFF0B6}"/>
              </a:ext>
            </a:extLst>
          </p:cNvPr>
          <p:cNvSpPr>
            <a:spLocks noGrp="1"/>
          </p:cNvSpPr>
          <p:nvPr/>
        </p:nvSpPr>
        <p:spPr>
          <a:xfrm>
            <a:off x="3695700" y="2457450"/>
            <a:ext cx="30956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AP 0,019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1FB109-395E-488F-B408-0D5A37F9626D}"/>
              </a:ext>
            </a:extLst>
          </p:cNvPr>
          <p:cNvSpPr>
            <a:spLocks noGrp="1"/>
          </p:cNvSpPr>
          <p:nvPr/>
        </p:nvSpPr>
        <p:spPr>
          <a:xfrm>
            <a:off x="6953250" y="2457450"/>
            <a:ext cx="43148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11 эпизодов в периоде политики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5BA4A40-5B22-4491-948F-772CCD1F44E0}"/>
              </a:ext>
            </a:extLst>
          </p:cNvPr>
          <p:cNvSpPr>
            <a:spLocks noGrp="1"/>
          </p:cNvSpPr>
          <p:nvPr/>
        </p:nvSpPr>
        <p:spPr>
          <a:xfrm>
            <a:off x="695325" y="4067175"/>
            <a:ext cx="1057275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2E40C14-C419-4FBF-9DF3-F3B1460B6628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28670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Вентилятор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85E8FE-9C70-4767-8EB6-6380FE220F9C}"/>
              </a:ext>
            </a:extLst>
          </p:cNvPr>
          <p:cNvSpPr>
            <a:spLocks noGrp="1"/>
          </p:cNvSpPr>
          <p:nvPr/>
        </p:nvSpPr>
        <p:spPr>
          <a:xfrm>
            <a:off x="3695700" y="3352800"/>
            <a:ext cx="30956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 0,519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3DDF3AE-F801-4729-B5C2-E53B2C3B30EF}"/>
              </a:ext>
            </a:extLst>
          </p:cNvPr>
          <p:cNvSpPr>
            <a:spLocks noGrp="1"/>
          </p:cNvSpPr>
          <p:nvPr/>
        </p:nvSpPr>
        <p:spPr>
          <a:xfrm>
            <a:off x="6953250" y="3352800"/>
            <a:ext cx="43148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38 кандидатов, 5 совпадений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9702206-C522-4CF8-AF97-82F8D12B673E}"/>
              </a:ext>
            </a:extLst>
          </p:cNvPr>
          <p:cNvSpPr>
            <a:spLocks noGrp="1"/>
          </p:cNvSpPr>
          <p:nvPr/>
        </p:nvSpPr>
        <p:spPr>
          <a:xfrm>
            <a:off x="695325" y="4962525"/>
            <a:ext cx="10572750" cy="19050"/>
          </a:xfrm>
          <a:prstGeom prst="rect">
            <a:avLst/>
          </a:prstGeom>
          <a:solidFill>
            <a:srgbClr val="FFD6E4"/>
          </a:solidFill>
          <a:ln w="0">
            <a:noFill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3D14252-E37A-45C0-BCA3-57C67158E222}"/>
              </a:ext>
            </a:extLst>
          </p:cNvPr>
          <p:cNvSpPr>
            <a:spLocks noGrp="1"/>
          </p:cNvSpPr>
          <p:nvPr/>
        </p:nvSpPr>
        <p:spPr>
          <a:xfrm>
            <a:off x="723900" y="4248150"/>
            <a:ext cx="28670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Газ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BE68B4B-0208-4E6C-A39D-E746FB8A4374}"/>
              </a:ext>
            </a:extLst>
          </p:cNvPr>
          <p:cNvSpPr>
            <a:spLocks noGrp="1"/>
          </p:cNvSpPr>
          <p:nvPr/>
        </p:nvSpPr>
        <p:spPr>
          <a:xfrm>
            <a:off x="3695700" y="4248150"/>
            <a:ext cx="3095625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нет цели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7ABB2D4-7280-46E1-9601-094F5B1FD07A}"/>
              </a:ext>
            </a:extLst>
          </p:cNvPr>
          <p:cNvSpPr>
            <a:spLocks noGrp="1"/>
          </p:cNvSpPr>
          <p:nvPr/>
        </p:nvSpPr>
        <p:spPr>
          <a:xfrm>
            <a:off x="6953250" y="4248150"/>
            <a:ext cx="431482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баллоном похожа на утечку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3792679-CA2B-4F17-87AD-A4B1CE7D506C}"/>
              </a:ext>
            </a:extLst>
          </p:cNvPr>
          <p:cNvSpPr>
            <a:spLocks noGrp="1"/>
          </p:cNvSpPr>
          <p:nvPr/>
        </p:nvSpPr>
        <p:spPr>
          <a:xfrm>
            <a:off x="714375" y="5476875"/>
            <a:ext cx="10287000" cy="695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Результат исследования виден отдельно. В очередь попадают только выпущенные прогнозы и проверяемые наблюдения.</a:t>
            </a:r>
          </a:p>
        </p:txBody>
      </p:sp>
    </p:spTree>
    <p:extLst>
      <p:ext uri="{BB962C8B-B14F-4D97-AF65-F5344CB8AC3E}">
        <p14:creationId xmlns:p14="http://schemas.microsoft.com/office/powerpoint/2010/main" val="18955997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9463D80-50A7-41D1-A293-01600B5C3DE7}"/>
              </a:ext>
            </a:extLst>
          </p:cNvPr>
          <p:cNvSpPr>
            <a:spLocks noGrp="1"/>
          </p:cNvSpPr>
          <p:nvPr/>
        </p:nvSpPr>
        <p:spPr>
          <a:xfrm>
            <a:off x="571500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ПРОВЕРИТЬ САМИМ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4D23FE6-F78E-4AEF-9070-71BCDC623222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71E72F8-C530-4189-96C8-9C4E1039834D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10829925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1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Рабочий прототип открыт для жюри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4"/>
          <a:srcRect t="7460" b="7460"/>
          <a:stretch>
            <a:fillRect/>
          </a:stretch>
        </p:blipFill>
        <p:spPr>
          <a:xfrm>
            <a:off x="552450" y="2371725"/>
            <a:ext cx="6667500" cy="319087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EAB7AB-FBC5-4930-AF1F-533734AA63DF}"/>
              </a:ext>
            </a:extLst>
          </p:cNvPr>
          <p:cNvSpPr>
            <a:spLocks noGrp="1"/>
          </p:cNvSpPr>
          <p:nvPr/>
        </p:nvSpPr>
        <p:spPr>
          <a:xfrm>
            <a:off x="7629525" y="2457450"/>
            <a:ext cx="360997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Интерфейс диспетчера</a:t>
            </a:r>
          </a:p>
        </p:txBody>
      </p:sp>
      <p:sp>
        <p:nvSpPr>
          <p:cNvPr id="7" name="Прямоугольник 6">
            <a:hlinkClick r:id="rId5"/>
            <a:extLst>
              <a:ext uri="{FF2B5EF4-FFF2-40B4-BE49-F238E27FC236}">
                <a16:creationId xmlns:a16="http://schemas.microsoft.com/office/drawing/2014/main" id="{28665AEC-585A-4F90-A588-A27F5EB26FB6}"/>
              </a:ext>
            </a:extLst>
          </p:cNvPr>
          <p:cNvSpPr>
            <a:spLocks noGrp="1"/>
          </p:cNvSpPr>
          <p:nvPr/>
        </p:nvSpPr>
        <p:spPr>
          <a:xfrm>
            <a:off x="7629525" y="2924175"/>
            <a:ext cx="37338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http://45.15.159.227/overview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D782766-F2B4-4152-BEDA-F7C84B40E5FF}"/>
              </a:ext>
            </a:extLst>
          </p:cNvPr>
          <p:cNvSpPr>
            <a:spLocks noGrp="1"/>
          </p:cNvSpPr>
          <p:nvPr/>
        </p:nvSpPr>
        <p:spPr>
          <a:xfrm>
            <a:off x="7629525" y="3895725"/>
            <a:ext cx="34861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Описание API</a:t>
            </a:r>
          </a:p>
        </p:txBody>
      </p:sp>
      <p:sp>
        <p:nvSpPr>
          <p:cNvPr id="9" name="Прямоугольник 8">
            <a:hlinkClick r:id="rId6"/>
            <a:extLst>
              <a:ext uri="{FF2B5EF4-FFF2-40B4-BE49-F238E27FC236}">
                <a16:creationId xmlns:a16="http://schemas.microsoft.com/office/drawing/2014/main" id="{556AB938-48C5-47C3-ACB5-05D6DB9A4C51}"/>
              </a:ext>
            </a:extLst>
          </p:cNvPr>
          <p:cNvSpPr>
            <a:spLocks noGrp="1"/>
          </p:cNvSpPr>
          <p:nvPr/>
        </p:nvSpPr>
        <p:spPr>
          <a:xfrm>
            <a:off x="7629525" y="4343400"/>
            <a:ext cx="3724275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http://45.15.159.227/docs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8A4EBC6-C4C3-4243-91B8-8BC064FC9C9F}"/>
              </a:ext>
            </a:extLst>
          </p:cNvPr>
          <p:cNvSpPr>
            <a:spLocks noGrp="1"/>
          </p:cNvSpPr>
          <p:nvPr/>
        </p:nvSpPr>
        <p:spPr>
          <a:xfrm>
            <a:off x="581025" y="5800725"/>
            <a:ext cx="106489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Демо воспроизводит архив. Подключение потока СМВУ и проверка на рабочей смене – следующий этап.</a:t>
            </a:r>
          </a:p>
        </p:txBody>
      </p:sp>
    </p:spTree>
    <p:extLst>
      <p:ext uri="{BB962C8B-B14F-4D97-AF65-F5344CB8AC3E}">
        <p14:creationId xmlns:p14="http://schemas.microsoft.com/office/powerpoint/2010/main" val="9363310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8FE32FA-A9DF-4D60-8663-540F10083880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ПИЛОТ МОСКОЛЛЕКТОРА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BBCF324-C673-41CE-A251-AEBB8CE2F0A8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23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C78FEC9-AFF2-43BF-BFC3-87FBB8719489}"/>
              </a:ext>
            </a:extLst>
          </p:cNvPr>
          <p:cNvSpPr>
            <a:spLocks noGrp="1"/>
          </p:cNvSpPr>
          <p:nvPr/>
        </p:nvSpPr>
        <p:spPr>
          <a:xfrm>
            <a:off x="657225" y="1514475"/>
            <a:ext cx="10763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2925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Внедрение начинается с чтения данных СМВУ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76DCCC0-4FD2-4377-A5E0-5A1196BA682E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009775" cy="1314450"/>
          </a:xfrm>
          <a:prstGeom prst="rect">
            <a:avLst/>
          </a:prstGeom>
          <a:solidFill>
            <a:srgbClr val="F2F0F5"/>
          </a:solidFill>
          <a:ln w="19050">
            <a:solidFill>
              <a:srgbClr val="520978"/>
            </a:solidFill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2A42A09-74DD-49E6-8AD3-07439A287584}"/>
              </a:ext>
            </a:extLst>
          </p:cNvPr>
          <p:cNvSpPr>
            <a:spLocks noGrp="1"/>
          </p:cNvSpPr>
          <p:nvPr/>
        </p:nvSpPr>
        <p:spPr>
          <a:xfrm>
            <a:off x="847725" y="2724150"/>
            <a:ext cx="16859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СМВУ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364F53-3E39-489A-919C-29D8C2819126}"/>
              </a:ext>
            </a:extLst>
          </p:cNvPr>
          <p:cNvSpPr>
            <a:spLocks noGrp="1"/>
          </p:cNvSpPr>
          <p:nvPr/>
        </p:nvSpPr>
        <p:spPr>
          <a:xfrm>
            <a:off x="847725" y="3209925"/>
            <a:ext cx="16859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показания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A9C679-FA5C-4BD9-A4CA-0EB0877F1728}"/>
              </a:ext>
            </a:extLst>
          </p:cNvPr>
          <p:cNvSpPr>
            <a:spLocks noGrp="1"/>
          </p:cNvSpPr>
          <p:nvPr/>
        </p:nvSpPr>
        <p:spPr>
          <a:xfrm>
            <a:off x="3352800" y="2571750"/>
            <a:ext cx="2447925" cy="1314450"/>
          </a:xfrm>
          <a:prstGeom prst="rect">
            <a:avLst/>
          </a:prstGeom>
          <a:solidFill>
            <a:srgbClr val="F2F0F5"/>
          </a:solidFill>
          <a:ln w="19050">
            <a:solidFill>
              <a:srgbClr val="520978"/>
            </a:solidFill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4D1C232-6E48-40F9-A0F0-E9DE44DDDABF}"/>
              </a:ext>
            </a:extLst>
          </p:cNvPr>
          <p:cNvSpPr>
            <a:spLocks noGrp="1"/>
          </p:cNvSpPr>
          <p:nvPr/>
        </p:nvSpPr>
        <p:spPr>
          <a:xfrm>
            <a:off x="3514725" y="2724150"/>
            <a:ext cx="2095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Dolos ML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A1F87A-F8C8-4EA5-A6CE-9C1E30D61522}"/>
              </a:ext>
            </a:extLst>
          </p:cNvPr>
          <p:cNvSpPr>
            <a:spLocks noGrp="1"/>
          </p:cNvSpPr>
          <p:nvPr/>
        </p:nvSpPr>
        <p:spPr>
          <a:xfrm>
            <a:off x="3514725" y="3209925"/>
            <a:ext cx="2095500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сигнал + свидетельства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C8D6E45-2C1F-4121-B395-B010D4D14938}"/>
              </a:ext>
            </a:extLst>
          </p:cNvPr>
          <p:cNvSpPr>
            <a:spLocks noGrp="1"/>
          </p:cNvSpPr>
          <p:nvPr/>
        </p:nvSpPr>
        <p:spPr>
          <a:xfrm>
            <a:off x="6448425" y="2571750"/>
            <a:ext cx="2009775" cy="1314450"/>
          </a:xfrm>
          <a:prstGeom prst="rect">
            <a:avLst/>
          </a:prstGeom>
          <a:solidFill>
            <a:srgbClr val="F2F0F5"/>
          </a:solidFill>
          <a:ln w="19050">
            <a:solidFill>
              <a:srgbClr val="520978"/>
            </a:solidFill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40F7E3B-6C76-46B3-A077-47B2BF21FC21}"/>
              </a:ext>
            </a:extLst>
          </p:cNvPr>
          <p:cNvSpPr>
            <a:spLocks noGrp="1"/>
          </p:cNvSpPr>
          <p:nvPr/>
        </p:nvSpPr>
        <p:spPr>
          <a:xfrm>
            <a:off x="6610350" y="2724150"/>
            <a:ext cx="16859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API v2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0EF6A42-BD07-4F7F-BCB6-BFAA8CCB2018}"/>
              </a:ext>
            </a:extLst>
          </p:cNvPr>
          <p:cNvSpPr>
            <a:spLocks noGrp="1"/>
          </p:cNvSpPr>
          <p:nvPr/>
        </p:nvSpPr>
        <p:spPr>
          <a:xfrm>
            <a:off x="6610350" y="3209925"/>
            <a:ext cx="16859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группа + решение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ED0397F-37C1-40A3-AF70-47DF89B20EE5}"/>
              </a:ext>
            </a:extLst>
          </p:cNvPr>
          <p:cNvSpPr>
            <a:spLocks noGrp="1"/>
          </p:cNvSpPr>
          <p:nvPr/>
        </p:nvSpPr>
        <p:spPr>
          <a:xfrm>
            <a:off x="9277350" y="2571750"/>
            <a:ext cx="2009775" cy="1314450"/>
          </a:xfrm>
          <a:prstGeom prst="rect">
            <a:avLst/>
          </a:prstGeom>
          <a:solidFill>
            <a:srgbClr val="F2F0F5"/>
          </a:solidFill>
          <a:ln w="19050">
            <a:solidFill>
              <a:srgbClr val="520978"/>
            </a:solidFill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C53607E-F3B3-46D9-85F2-EC846DF2998E}"/>
              </a:ext>
            </a:extLst>
          </p:cNvPr>
          <p:cNvSpPr>
            <a:spLocks noGrp="1"/>
          </p:cNvSpPr>
          <p:nvPr/>
        </p:nvSpPr>
        <p:spPr>
          <a:xfrm>
            <a:off x="9439275" y="2724150"/>
            <a:ext cx="16859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ОДС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AEAA231-50BD-4D36-BA5C-59F9ECC16026}"/>
              </a:ext>
            </a:extLst>
          </p:cNvPr>
          <p:cNvSpPr>
            <a:spLocks noGrp="1"/>
          </p:cNvSpPr>
          <p:nvPr/>
        </p:nvSpPr>
        <p:spPr>
          <a:xfrm>
            <a:off x="9439275" y="3209925"/>
            <a:ext cx="16859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разбор + наряд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CFADE3A-F2C9-4C46-9577-474A115A0179}"/>
              </a:ext>
            </a:extLst>
          </p:cNvPr>
          <p:cNvSpPr>
            <a:spLocks noGrp="1"/>
          </p:cNvSpPr>
          <p:nvPr/>
        </p:nvSpPr>
        <p:spPr>
          <a:xfrm>
            <a:off x="2809875" y="3019425"/>
            <a:ext cx="476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47BF88D-2CDE-405D-8C46-C29E9C3060F3}"/>
              </a:ext>
            </a:extLst>
          </p:cNvPr>
          <p:cNvSpPr>
            <a:spLocks noGrp="1"/>
          </p:cNvSpPr>
          <p:nvPr/>
        </p:nvSpPr>
        <p:spPr>
          <a:xfrm>
            <a:off x="5867400" y="3019425"/>
            <a:ext cx="476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FA76604-B860-40BB-AB9D-F9A01C35D289}"/>
              </a:ext>
            </a:extLst>
          </p:cNvPr>
          <p:cNvSpPr>
            <a:spLocks noGrp="1"/>
          </p:cNvSpPr>
          <p:nvPr/>
        </p:nvSpPr>
        <p:spPr>
          <a:xfrm>
            <a:off x="8772525" y="3019425"/>
            <a:ext cx="476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defRPr>
            </a:pPr>
            <a:r>
              <a:rPr sz="2625" b="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3AA9FF-B914-4C4F-AB93-BCED72EA64B0}"/>
              </a:ext>
            </a:extLst>
          </p:cNvPr>
          <p:cNvSpPr>
            <a:spLocks noGrp="1"/>
          </p:cNvSpPr>
          <p:nvPr/>
        </p:nvSpPr>
        <p:spPr>
          <a:xfrm>
            <a:off x="714375" y="4533900"/>
            <a:ext cx="10477500" cy="962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Для реального пилота нужны поток данных, график ППР, журнал ремонтов и реестр подтверждённых пожаров.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4B6037B-46EF-4709-8674-832B0E9A3DCC}"/>
              </a:ext>
            </a:extLst>
          </p:cNvPr>
          <p:cNvSpPr>
            <a:spLocks noGrp="1"/>
          </p:cNvSpPr>
          <p:nvPr/>
        </p:nvSpPr>
        <p:spPr>
          <a:xfrm>
            <a:off x="714375" y="5715000"/>
            <a:ext cx="10287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D5B65"/>
                </a:solidFill>
                <a:latin typeface="Montserrat"/>
                <a:ea typeface="Montserrat"/>
                <a:cs typeface="Montserrat"/>
              </a:rPr>
              <a:t>Сейчас проверен исторический контур и действия диспетчера в интерфейсе.</a:t>
            </a:r>
          </a:p>
        </p:txBody>
      </p:sp>
    </p:spTree>
    <p:extLst>
      <p:ext uri="{BB962C8B-B14F-4D97-AF65-F5344CB8AC3E}">
        <p14:creationId xmlns:p14="http://schemas.microsoft.com/office/powerpoint/2010/main" val="2012840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D32BEE4-0EDA-435C-81C6-744CCCF039DB}"/>
              </a:ext>
            </a:extLst>
          </p:cNvPr>
          <p:cNvSpPr>
            <a:spLocks noGrp="1"/>
          </p:cNvSpPr>
          <p:nvPr/>
        </p:nvSpPr>
        <p:spPr>
          <a:xfrm>
            <a:off x="523875" y="466725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TEAM DOLOS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2CB35C2-1564-4911-8345-756B85008486}"/>
              </a:ext>
            </a:extLst>
          </p:cNvPr>
          <p:cNvSpPr>
            <a:spLocks noGrp="1"/>
          </p:cNvSpPr>
          <p:nvPr/>
        </p:nvSpPr>
        <p:spPr>
          <a:xfrm>
            <a:off x="11620500" y="6419850"/>
            <a:ext cx="304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24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76252EA-82C9-47CC-9C8B-593A65F5C52B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10191750" cy="847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750" b="1">
                <a:solidFill>
                  <a:srgbClr val="310F53"/>
                </a:solidFill>
                <a:latin typeface="Montserrat"/>
                <a:ea typeface="Montserrat"/>
                <a:cs typeface="Montserrat"/>
              </a:defRPr>
            </a:pPr>
            <a:r>
              <a:rPr sz="375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Телеметрия → проверяемое решение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3E954B4-7361-4286-A2C2-CE9101E732EC}"/>
              </a:ext>
            </a:extLst>
          </p:cNvPr>
          <p:cNvSpPr>
            <a:spLocks noGrp="1"/>
          </p:cNvSpPr>
          <p:nvPr/>
        </p:nvSpPr>
        <p:spPr>
          <a:xfrm>
            <a:off x="714375" y="2781300"/>
            <a:ext cx="10572750" cy="47625"/>
          </a:xfrm>
          <a:prstGeom prst="rect">
            <a:avLst/>
          </a:prstGeom>
          <a:solidFill>
            <a:srgbClr val="FF0053"/>
          </a:solidFill>
          <a:ln w="0">
            <a:noFill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B226E1C-217C-45F7-B2C0-7068216D0717}"/>
              </a:ext>
            </a:extLst>
          </p:cNvPr>
          <p:cNvSpPr>
            <a:spLocks noGrp="1"/>
          </p:cNvSpPr>
          <p:nvPr/>
        </p:nvSpPr>
        <p:spPr>
          <a:xfrm>
            <a:off x="742950" y="3133725"/>
            <a:ext cx="3143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19 типов датчиков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ABE58C4-4FF7-45B8-95C5-BB70F830C89E}"/>
              </a:ext>
            </a:extLst>
          </p:cNvPr>
          <p:cNvSpPr>
            <a:spLocks noGrp="1"/>
          </p:cNvSpPr>
          <p:nvPr/>
        </p:nvSpPr>
        <p:spPr>
          <a:xfrm>
            <a:off x="4505325" y="3133725"/>
            <a:ext cx="3190875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1 621 группа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CB7777E-A510-4285-8E06-2BC370E2D293}"/>
              </a:ext>
            </a:extLst>
          </p:cNvPr>
          <p:cNvSpPr>
            <a:spLocks noGrp="1"/>
          </p:cNvSpPr>
          <p:nvPr/>
        </p:nvSpPr>
        <p:spPr>
          <a:xfrm>
            <a:off x="8324850" y="3133725"/>
            <a:ext cx="2714625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8 сценариев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065F174-E425-4782-86BB-30CBF4C9F58C}"/>
              </a:ext>
            </a:extLst>
          </p:cNvPr>
          <p:cNvSpPr>
            <a:spLocks noGrp="1"/>
          </p:cNvSpPr>
          <p:nvPr/>
        </p:nvSpPr>
        <p:spPr>
          <a:xfrm>
            <a:off x="733425" y="4124325"/>
            <a:ext cx="10096500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21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Диспетчер видит сигнал, его источник, ограничения модели и историю событий. Решение остаётся за человеком.</a:t>
            </a:r>
          </a:p>
        </p:txBody>
      </p:sp>
      <p:sp>
        <p:nvSpPr>
          <p:cNvPr id="10" name="Прямоугольник 9">
            <a:hlinkClick r:id="rId4"/>
            <a:extLst>
              <a:ext uri="{FF2B5EF4-FFF2-40B4-BE49-F238E27FC236}">
                <a16:creationId xmlns:a16="http://schemas.microsoft.com/office/drawing/2014/main" id="{4D97B88B-6DF9-4778-B42C-6361937F17DC}"/>
              </a:ext>
            </a:extLst>
          </p:cNvPr>
          <p:cNvSpPr>
            <a:spLocks noGrp="1"/>
          </p:cNvSpPr>
          <p:nvPr/>
        </p:nvSpPr>
        <p:spPr>
          <a:xfrm>
            <a:off x="752475" y="5543550"/>
            <a:ext cx="7524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http://45.15.159.227/overview</a:t>
            </a:r>
          </a:p>
        </p:txBody>
      </p:sp>
      <p:sp>
        <p:nvSpPr>
          <p:cNvPr id="11" name="Прямоугольник 10">
            <a:hlinkClick r:id="rId5"/>
            <a:extLst>
              <a:ext uri="{FF2B5EF4-FFF2-40B4-BE49-F238E27FC236}">
                <a16:creationId xmlns:a16="http://schemas.microsoft.com/office/drawing/2014/main" id="{22C5A66A-00CA-46A0-913F-6F685FE3D41E}"/>
              </a:ext>
            </a:extLst>
          </p:cNvPr>
          <p:cNvSpPr>
            <a:spLocks noGrp="1"/>
          </p:cNvSpPr>
          <p:nvPr/>
        </p:nvSpPr>
        <p:spPr>
          <a:xfrm>
            <a:off x="752475" y="5924550"/>
            <a:ext cx="78105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github.com/MonaCCi111/lct2</a:t>
            </a:r>
          </a:p>
        </p:txBody>
      </p:sp>
    </p:spTree>
    <p:extLst>
      <p:ext uri="{BB962C8B-B14F-4D97-AF65-F5344CB8AC3E}">
        <p14:creationId xmlns:p14="http://schemas.microsoft.com/office/powerpoint/2010/main" val="3485664511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2125</Words>
  <Application>Microsoft Office PowerPoint</Application>
  <PresentationFormat>Широкоэкранный</PresentationFormat>
  <Paragraphs>259</Paragraphs>
  <Slides>24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Презентация PowerPoint</vt:lpstr>
      <vt:lpstr>КОМАНДА DOLOS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Вячеслав Дягилев</cp:lastModifiedBy>
  <cp:revision>96</cp:revision>
  <dcterms:created xsi:type="dcterms:W3CDTF">2023-05-15T07:36:23Z</dcterms:created>
  <dcterms:modified xsi:type="dcterms:W3CDTF">2026-09-29T20:25:08Z</dcterms:modified>
</cp:coreProperties>
</file>