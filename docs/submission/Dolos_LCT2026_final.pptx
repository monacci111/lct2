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65" r:id="rId2"/>
    <p:sldId id="366" r:id="rId3"/>
    <p:sldId id="362" r:id="rId4"/>
    <p:sldId id="364" r:id="rId5"/>
    <p:sldId id="375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Шаблоны слайдов" id="{24401F80-F81B-49C3-8D55-70A14F0BF8FF}">
          <p14:sldIdLst/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ACTUAL_STATE.md, итоговая проверка исходного журнала 312 982 076 событий; FINAL_PRODUCT_V1_STATUS.txt: 19 типов, 12 627 каналов, 1 142 вне текущего справочника. Реальная авария не подтверждена меткой в переданном журнале.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297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validation/FINAL_PRODUCT_V1_STATUS.txt. Статусы 2/4/13 относятся к типам и данным, а не к фиксированному списку ID. Насосная модель действует с оговоркой о слабом качестве.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8605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FINAL_PRODUCT_V1_STATUS.txt, review_v2. Группировка по объекту и времени сохраняет отдельные draft_id и решения. 13 групп – исторический пик по available_at, не фактическая скорость обработки диспетчера. Скриншот работающего /review.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4922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реального draft_id power_phase_scada_v2:178259:20251210T090000 из API v2. object_id 5003, score 0.984848..., горизонт 48 часов, target_kind SCADA_STATUS_EPISODE. Карточка в слайде – сжатая визуализация реального ответа API, не скриншот.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1744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validation/FINAL_PRODUCT_V1_STATUS.txt. Фаза ROC-AUC 0.96550 AP 0.71625. Насос ROC-AUC 0.58687 AP 0.13931, качество нестабильно, действует с оговоркой. Метрики не подтверждают прогноз физической аварии и не равны Precision/Recall из ТЗ.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2060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fire_history_view.json и ACTUAL_STATE.md: 42 416 истинных сообщений «Обнаружен дым», 15 458 локальных карточек после исправления фильтра, 1 телеметрический кандидат. Подтверждённое число пожаров неизвестно. Скриншот /fire-history.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8660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validation/check_replay_v1 и экран /replay. События открываются по выбранному историческому шагу, будущее скрыто. Это реконструкция, живой поток не подключён.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2794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работающий локальный сервис, скриншоты /overview, /analytics, /situations; README.md. Проверки финального дерева: frontend 348/348 тестов, backend 2/2 и production build. Продукт демонстрирует историю до 30.06.2026, не живой поток.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3970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backend/data/ml_handoff/api_contract_v1.json, validation/HANDOFF_V1_STATUS.txt и DISPATCH_REVIEW_V2_STATUS.txt. По source_ref можно восстановить свидетельства; доступность и исходное время не смешиваются.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2322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validation/FINAL_PRODUCT_V1_STATUS.txt и SENSOR_COVERAGE_STATUS.txt. 1 142 – каналы вне текущего справочника, а не доказанно непригодные датчики. Допуск зависит от типа и доступной истории, не от списка обучающих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4821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validation/FINAL_PRODUCT_V1_STATUS.txt. Температура AP 0.01917; вентилятор ROC-AUC 0.51873, 38 заявок и 5 совпадений. Газовые численные превышения нельзя объявлять утечками без графика ППР и физической цели.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7699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Публичные адреса предоставлены командой 29.09.2026 и проверены HTTP 200 в день подготовки слайдов. HTTP 200 проверяет доступность URL, но не полный маршрут пользователя и не постоянную доступность сервера. Скриншот overview из работающего сервиса.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044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ТЗ, раздел 13, интеграция с СМВУ только на чтение; ACTUAL_STATE.md и README.md. Живой поток и перечисленные внешние источники в текущий продукт не подключены.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3927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Итоговые числа подтверждены FINAL_PRODUCT_V1_STATUS.txt. Репозиторий origin: https://github.com/MonaCCi111/lct2.git. Прототип: http://45.15.159.227/overview.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1321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418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  <p:sldLayoutId id="2147483705" r:id="rId24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://45.15.159.227/docs" TargetMode="External"/><Relationship Id="rId5" Type="http://schemas.openxmlformats.org/officeDocument/2006/relationships/hyperlink" Target="http://45.15.159.227/overview" TargetMode="Externa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github.com/MonaCCi111/lct2" TargetMode="External"/><Relationship Id="rId4" Type="http://schemas.openxmlformats.org/officeDocument/2006/relationships/hyperlink" Target="http://45.15.159.227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2B2B00-2ED2-424F-9329-A4381EB0F7EE}"/>
              </a:ext>
            </a:extLst>
          </p:cNvPr>
          <p:cNvSpPr/>
          <p:nvPr/>
        </p:nvSpPr>
        <p:spPr>
          <a:xfrm>
            <a:off x="1739900" y="317500"/>
            <a:ext cx="2311400" cy="11049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bg1">
                    <a:alpha val="47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43F689-CD4C-4026-9D3A-3BF27EC895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00" y="342900"/>
            <a:ext cx="2108200" cy="1054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228AD7-A245-4BE8-93FF-E4B6B44EDF89}"/>
              </a:ext>
            </a:extLst>
          </p:cNvPr>
          <p:cNvSpPr txBox="1"/>
          <p:nvPr/>
        </p:nvSpPr>
        <p:spPr>
          <a:xfrm>
            <a:off x="495300" y="2959100"/>
            <a:ext cx="59690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600" b="1">
                <a:solidFill>
                  <a:srgbClr val="FFFFFF"/>
                </a:solidFill>
                <a:latin typeface="Montserrat"/>
              </a:rPr>
              <a:t>От сигнала к решению диспетчера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EAC82-958F-4AE4-A0EB-E27E2CF83D20}"/>
              </a:ext>
            </a:extLst>
          </p:cNvPr>
          <p:cNvSpPr txBox="1"/>
          <p:nvPr/>
        </p:nvSpPr>
        <p:spPr>
          <a:xfrm>
            <a:off x="520700" y="4597400"/>
            <a:ext cx="5715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2100" b="1">
                <a:solidFill>
                  <a:srgbClr val="FFFFFF"/>
                </a:solidFill>
                <a:latin typeface="Montserrat"/>
              </a:rPr>
              <a:t>Проверяемая очередь для инженерных коллекторов Москвы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5DB0C-D7AD-4EE1-B924-3400B3384B75}"/>
              </a:ext>
            </a:extLst>
          </p:cNvPr>
          <p:cNvSpPr txBox="1"/>
          <p:nvPr/>
        </p:nvSpPr>
        <p:spPr>
          <a:xfrm>
            <a:off x="533400" y="5702300"/>
            <a:ext cx="6032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300" b="1">
                <a:solidFill>
                  <a:srgbClr val="FFFFFF"/>
                </a:solidFill>
                <a:latin typeface="Montserrat"/>
              </a:rPr>
              <a:t>АО «Москоллектор» · Задача №8: Сервис прогнозирования аварий и управления ремонтными работами инженерных коллекторов Москвы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>
                <a:solidFill>
                  <a:schemeClr val="tx1"/>
                </a:solidFill>
              </a:rPr>
              <a:t>19 типов датчиков получили явную роль. Слабые модели не маскируются под точный прогноз; повторные сигналы собираются в группы, но каждое решение остаётся отдельным.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Капитан: Дягилев Вячеслав Игоревич – ML/data.
Наумов Роман Евгеньевич – frontend.
Фролкин Александр Александрович – backend.
Команда из Москвы.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>
                <a:solidFill>
                  <a:schemeClr val="tx1"/>
                </a:solidFill>
              </a:rPr>
              <a:t>Dolos превращает поток показаний в проверяемую очередь: источник, контекст, черновик, решение диспетчера и наряд.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>
                <a:solidFill>
                  <a:schemeClr val="accent5"/>
                </a:solidFill>
              </a:rPr>
              <a:t>2</a:t>
            </a:r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Frontend
Интерфейс диспетчера и таймлайн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Наумов Роман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Backend
API, решения и наряды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Фролкин Александр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CF4772-E919-4089-9E84-9859983F3C13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8" b="2758"/>
          <a:stretch>
            <a:fillRect/>
          </a:stretch>
        </p:blipFill>
        <p:spPr>
          <a:xfrm>
            <a:off x="589037" y="1828800"/>
            <a:ext cx="1704826" cy="1536700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4E19960-EA0D-45D4-A22B-2976A0D8D64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17" b="17017"/>
          <a:stretch>
            <a:fillRect/>
          </a:stretch>
        </p:blipFill>
        <p:spPr>
          <a:xfrm>
            <a:off x="2894292" y="1828800"/>
            <a:ext cx="1717117" cy="1536700"/>
          </a:xfr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2A33E31-02DA-4B66-8F2F-A49140385A5C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7" b="13797"/>
          <a:stretch>
            <a:fillRect/>
          </a:stretch>
        </p:blipFill>
        <p:spPr>
          <a:xfrm>
            <a:off x="5202609" y="1828800"/>
            <a:ext cx="1697882" cy="1536700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>
                <a:latin typeface="+mn-lt"/>
              </a:rPr>
              <a:t>КОМАНДА </a:t>
            </a:r>
            <a:r>
              <a:rPr lang="en-US">
                <a:latin typeface="+mn-lt"/>
              </a:rPr>
              <a:t>DOLOS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Капитан · ML/data
Исследование данных и моделей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Дягилев Вячеслав</a:t>
            </a:r>
            <a:endParaRPr lang="ru-RU" sz="1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>
                <a:solidFill>
                  <a:schemeClr val="accent5"/>
                </a:solidFill>
              </a:rPr>
              <a:t>4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Вячеслав проверил данные и модели, Александр связал их с API и нарядами, Роман собрал рабочее место диспетчера. Все части работают по одному контракту.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>
                <a:solidFill>
                  <a:schemeClr val="accent5"/>
                </a:solidFill>
              </a:rPr>
              <a:t>Как мы собрали решение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В 312,9 млн записей нет надёжной метки физической аварии. Мы отделили прогноз SCADA от наблюдаемого факта, оставили ограничения на виду и сгруппировали повторы без лимита 10 в день.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>
                <a:solidFill>
                  <a:schemeClr val="accent5"/>
                </a:solidFill>
              </a:rPr>
              <a:t>Что оказалось самым трудным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АО «Москоллектор» эксплуатирует 825 км коллекторов. Нас заинтересовала практическая задача: помочь диспетчеру быстро понять, что произошло и какие показания это подтверждают.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>
                <a:solidFill>
                  <a:schemeClr val="accent5"/>
                </a:solidFill>
              </a:rPr>
              <a:t>Почему взяли кейс Москоллектора</a:t>
            </a:r>
            <a:endParaRPr lang="ru-RU" b="1" dirty="0">
              <a:solidFill>
                <a:schemeClr val="accent5"/>
              </a:solidFill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83263-D553-4BE9-8879-2BDAA919827B}"/>
              </a:ext>
            </a:extLst>
          </p:cNvPr>
          <p:cNvSpPr txBox="1"/>
          <p:nvPr/>
        </p:nvSpPr>
        <p:spPr>
          <a:xfrm>
            <a:off x="609600" y="419100"/>
            <a:ext cx="48895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2000" b="1">
                <a:solidFill>
                  <a:srgbClr val="FFFFFF"/>
                </a:solidFill>
                <a:latin typeface="Montserrat"/>
              </a:rPr>
              <a:t>ОТ ДАННЫХ К РЕШЕНИЮ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>
                <a:solidFill>
                  <a:schemeClr val="tx1"/>
                </a:solidFill>
              </a:rPr>
              <a:t>19 типов и 12 627 каналов с явным статусом пригодности.
Прогноз фазы и насоса, наблюдаемые ситуации, исходные свидетельства.
2 191 черновик объединён в 1 621 группу; API v2 сохраняет решения и наряды.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>
                <a:solidFill>
                  <a:schemeClr val="tx1"/>
                </a:solidFill>
              </a:rPr>
              <a:t>Диспетчер разбирает группу, видит источник каждого сигнала и принимает решение.
Историю можно воспроизвести ползунком на восьми сценариях.
Для пилота нужны живой поток и данные о ППР, ремонтах и подтверждённых пожарах.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C2A03F3-7AFE-4212-8BA5-0886A97215E0}"/>
              </a:ext>
            </a:extLst>
          </p:cNvPr>
          <p:cNvSpPr>
            <a:spLocks noGrp="1"/>
          </p:cNvSpPr>
          <p:nvPr/>
        </p:nvSpPr>
        <p:spPr>
          <a:xfrm>
            <a:off x="523875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МАСШТАБ ЗАДАЧИ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5933964-0F0B-4F11-AA3D-BFE5EA66DD08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C897DC7-6D65-43DA-9FD7-0209F7408310}"/>
              </a:ext>
            </a:extLst>
          </p:cNvPr>
          <p:cNvSpPr>
            <a:spLocks noGrp="1"/>
          </p:cNvSpPr>
          <p:nvPr/>
        </p:nvSpPr>
        <p:spPr>
          <a:xfrm>
            <a:off x="676275" y="1571625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1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1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312,9 млн записей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5D49A3B-E42A-4F3A-B46E-47C89E6FE574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Авария в журнале не помечена готовой меткой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85334C-E48B-4F1C-8924-89E027704F50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3352800" cy="1962150"/>
          </a:xfrm>
          <a:prstGeom prst="rect">
            <a:avLst/>
          </a:prstGeom>
          <a:solidFill>
            <a:srgbClr val="F2F0F5"/>
          </a:solidFill>
          <a:ln w="0">
            <a:noFill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67D0C26-5920-459E-A750-0ADA2DE828C1}"/>
              </a:ext>
            </a:extLst>
          </p:cNvPr>
          <p:cNvSpPr>
            <a:spLocks noGrp="1"/>
          </p:cNvSpPr>
          <p:nvPr/>
        </p:nvSpPr>
        <p:spPr>
          <a:xfrm>
            <a:off x="4381500" y="3238500"/>
            <a:ext cx="3352800" cy="1962150"/>
          </a:xfrm>
          <a:prstGeom prst="rect">
            <a:avLst/>
          </a:prstGeom>
          <a:solidFill>
            <a:srgbClr val="F2F0F5"/>
          </a:solidFill>
          <a:ln w="0">
            <a:noFill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B6E6E6-734A-47B2-ABA4-459D5693607C}"/>
              </a:ext>
            </a:extLst>
          </p:cNvPr>
          <p:cNvSpPr>
            <a:spLocks noGrp="1"/>
          </p:cNvSpPr>
          <p:nvPr/>
        </p:nvSpPr>
        <p:spPr>
          <a:xfrm>
            <a:off x="8096250" y="3238500"/>
            <a:ext cx="3352800" cy="1962150"/>
          </a:xfrm>
          <a:prstGeom prst="rect">
            <a:avLst/>
          </a:prstGeom>
          <a:solidFill>
            <a:srgbClr val="F2F0F5"/>
          </a:solidFill>
          <a:ln w="0">
            <a:noFill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1356191-D6BA-4ACC-8D79-4482609CF105}"/>
              </a:ext>
            </a:extLst>
          </p:cNvPr>
          <p:cNvSpPr>
            <a:spLocks noGrp="1"/>
          </p:cNvSpPr>
          <p:nvPr/>
        </p:nvSpPr>
        <p:spPr>
          <a:xfrm>
            <a:off x="895350" y="3476625"/>
            <a:ext cx="27146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172A093-F1A0-4C4E-9BEE-3F8669A86495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типов датчиков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E8A1E51-430C-4FFB-9019-7D2902FD35BE}"/>
              </a:ext>
            </a:extLst>
          </p:cNvPr>
          <p:cNvSpPr>
            <a:spLocks noGrp="1"/>
          </p:cNvSpPr>
          <p:nvPr/>
        </p:nvSpPr>
        <p:spPr>
          <a:xfrm>
            <a:off x="4600575" y="3476625"/>
            <a:ext cx="2762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1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1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12 627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409EF2-0E57-46B9-80E1-D6F710A524FB}"/>
              </a:ext>
            </a:extLst>
          </p:cNvPr>
          <p:cNvSpPr>
            <a:spLocks noGrp="1"/>
          </p:cNvSpPr>
          <p:nvPr/>
        </p:nvSpPr>
        <p:spPr>
          <a:xfrm>
            <a:off x="4619625" y="4343400"/>
            <a:ext cx="27908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каналов в истории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B484B3C-AFF8-42A0-ACCA-1BEDE7914D9C}"/>
              </a:ext>
            </a:extLst>
          </p:cNvPr>
          <p:cNvSpPr>
            <a:spLocks noGrp="1"/>
          </p:cNvSpPr>
          <p:nvPr/>
        </p:nvSpPr>
        <p:spPr>
          <a:xfrm>
            <a:off x="8334375" y="3476625"/>
            <a:ext cx="2762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1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1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1 142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60224D6-8350-4835-807F-9A0C3AAEEF88}"/>
              </a:ext>
            </a:extLst>
          </p:cNvPr>
          <p:cNvSpPr>
            <a:spLocks noGrp="1"/>
          </p:cNvSpPr>
          <p:nvPr/>
        </p:nvSpPr>
        <p:spPr>
          <a:xfrm>
            <a:off x="8353425" y="4343400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канала вне справочника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1F11FB-69F0-4068-B8A9-429382CDB0B0}"/>
              </a:ext>
            </a:extLst>
          </p:cNvPr>
          <p:cNvSpPr>
            <a:spLocks noGrp="1"/>
          </p:cNvSpPr>
          <p:nvPr/>
        </p:nvSpPr>
        <p:spPr>
          <a:xfrm>
            <a:off x="704850" y="55054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Мы начали с проверки смысла сигналов и сохранили каналы с неизвестным статусом видимыми.</a:t>
            </a:r>
          </a:p>
        </p:txBody>
      </p:sp>
    </p:spTree>
    <p:extLst>
      <p:ext uri="{BB962C8B-B14F-4D97-AF65-F5344CB8AC3E}">
        <p14:creationId xmlns:p14="http://schemas.microsoft.com/office/powerpoint/2010/main" val="338406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36AE8B-8FA4-4ACA-A410-1EE585CB68BE}"/>
              </a:ext>
            </a:extLst>
          </p:cNvPr>
          <p:cNvSpPr>
            <a:spLocks noGrp="1"/>
          </p:cNvSpPr>
          <p:nvPr/>
        </p:nvSpPr>
        <p:spPr>
          <a:xfrm>
            <a:off x="571500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РЕШЕНИЕ 01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4F852F1-79FE-4AF0-AF3A-6A50BB3ED22A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A48BAB3-D950-46CC-94AC-E7B1603C7478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1076325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Каждый тип датчика получил честную роль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DC5A558-2D97-456C-BF45-ED294B52E5E7}"/>
              </a:ext>
            </a:extLst>
          </p:cNvPr>
          <p:cNvSpPr>
            <a:spLocks noGrp="1"/>
          </p:cNvSpPr>
          <p:nvPr/>
        </p:nvSpPr>
        <p:spPr>
          <a:xfrm>
            <a:off x="552450" y="2428875"/>
            <a:ext cx="3476625" cy="2619375"/>
          </a:xfrm>
          <a:prstGeom prst="rect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76731F9-BB97-4169-954F-221587489FC8}"/>
              </a:ext>
            </a:extLst>
          </p:cNvPr>
          <p:cNvSpPr>
            <a:spLocks noGrp="1"/>
          </p:cNvSpPr>
          <p:nvPr/>
        </p:nvSpPr>
        <p:spPr>
          <a:xfrm>
            <a:off x="552450" y="2428875"/>
            <a:ext cx="3476625" cy="95250"/>
          </a:xfrm>
          <a:prstGeom prst="rect">
            <a:avLst/>
          </a:prstGeom>
          <a:solidFill>
            <a:srgbClr val="520978"/>
          </a:solidFill>
          <a:ln w="0">
            <a:noFill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8534B8E-38C1-45A0-965E-4C0C25589E32}"/>
              </a:ext>
            </a:extLst>
          </p:cNvPr>
          <p:cNvSpPr>
            <a:spLocks noGrp="1"/>
          </p:cNvSpPr>
          <p:nvPr/>
        </p:nvSpPr>
        <p:spPr>
          <a:xfrm>
            <a:off x="790575" y="2686050"/>
            <a:ext cx="15240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5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5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E26F8F-00BE-4948-B001-E7F85652A462}"/>
              </a:ext>
            </a:extLst>
          </p:cNvPr>
          <p:cNvSpPr>
            <a:spLocks noGrp="1"/>
          </p:cNvSpPr>
          <p:nvPr/>
        </p:nvSpPr>
        <p:spPr>
          <a:xfrm>
            <a:off x="790575" y="3619500"/>
            <a:ext cx="3000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Прогноз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90D642-162C-42F2-9AD8-1E74C19FA319}"/>
              </a:ext>
            </a:extLst>
          </p:cNvPr>
          <p:cNvSpPr>
            <a:spLocks noGrp="1"/>
          </p:cNvSpPr>
          <p:nvPr/>
        </p:nvSpPr>
        <p:spPr>
          <a:xfrm>
            <a:off x="790575" y="4114800"/>
            <a:ext cx="29813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Фаза и насос: черновик с модельным баллом и доказательствами.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DFBD3A3-BE65-4230-B99D-3228D8DF1E13}"/>
              </a:ext>
            </a:extLst>
          </p:cNvPr>
          <p:cNvSpPr>
            <a:spLocks noGrp="1"/>
          </p:cNvSpPr>
          <p:nvPr/>
        </p:nvSpPr>
        <p:spPr>
          <a:xfrm>
            <a:off x="4314825" y="2428875"/>
            <a:ext cx="3476625" cy="2619375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53"/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8608D49-8E67-4BD8-890E-57BD2F719E4E}"/>
              </a:ext>
            </a:extLst>
          </p:cNvPr>
          <p:cNvSpPr>
            <a:spLocks noGrp="1"/>
          </p:cNvSpPr>
          <p:nvPr/>
        </p:nvSpPr>
        <p:spPr>
          <a:xfrm>
            <a:off x="4314825" y="2428875"/>
            <a:ext cx="3476625" cy="95250"/>
          </a:xfrm>
          <a:prstGeom prst="rect">
            <a:avLst/>
          </a:prstGeom>
          <a:solidFill>
            <a:srgbClr val="FF0053"/>
          </a:solidFill>
          <a:ln w="0">
            <a:noFill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11CE1FA-939C-481D-8E62-3E75CA988CCE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15240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53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53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B0877E5-97A4-4DBA-8443-A0B5C3F95413}"/>
              </a:ext>
            </a:extLst>
          </p:cNvPr>
          <p:cNvSpPr>
            <a:spLocks noGrp="1"/>
          </p:cNvSpPr>
          <p:nvPr/>
        </p:nvSpPr>
        <p:spPr>
          <a:xfrm>
            <a:off x="4552950" y="3619500"/>
            <a:ext cx="3000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Исследование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9586B2-429B-4882-AABE-08834237378F}"/>
              </a:ext>
            </a:extLst>
          </p:cNvPr>
          <p:cNvSpPr>
            <a:spLocks noGrp="1"/>
          </p:cNvSpPr>
          <p:nvPr/>
        </p:nvSpPr>
        <p:spPr>
          <a:xfrm>
            <a:off x="4552950" y="4114800"/>
            <a:ext cx="29813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Видим результаты, но не отправляем слабые модели в очередь.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6FDC01D-190C-48CA-973F-13A15B2D577B}"/>
              </a:ext>
            </a:extLst>
          </p:cNvPr>
          <p:cNvSpPr>
            <a:spLocks noGrp="1"/>
          </p:cNvSpPr>
          <p:nvPr/>
        </p:nvSpPr>
        <p:spPr>
          <a:xfrm>
            <a:off x="8077200" y="2428875"/>
            <a:ext cx="3476625" cy="2619375"/>
          </a:xfrm>
          <a:prstGeom prst="rect">
            <a:avLst/>
          </a:prstGeom>
          <a:solidFill>
            <a:srgbClr val="FFFFFF"/>
          </a:solidFill>
          <a:ln w="19050">
            <a:solidFill>
              <a:srgbClr val="310F53"/>
            </a:solidFill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BEF6509-C1AB-42BE-BD88-FF533230CC5E}"/>
              </a:ext>
            </a:extLst>
          </p:cNvPr>
          <p:cNvSpPr>
            <a:spLocks noGrp="1"/>
          </p:cNvSpPr>
          <p:nvPr/>
        </p:nvSpPr>
        <p:spPr>
          <a:xfrm>
            <a:off x="8077200" y="2428875"/>
            <a:ext cx="3476625" cy="95250"/>
          </a:xfrm>
          <a:prstGeom prst="rect">
            <a:avLst/>
          </a:prstGeom>
          <a:solidFill>
            <a:srgbClr val="310F53"/>
          </a:solidFill>
          <a:ln w="0">
            <a:noFill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765DDF4-1ABF-4AB9-A01C-F9F26FD46E59}"/>
              </a:ext>
            </a:extLst>
          </p:cNvPr>
          <p:cNvSpPr>
            <a:spLocks noGrp="1"/>
          </p:cNvSpPr>
          <p:nvPr/>
        </p:nvSpPr>
        <p:spPr>
          <a:xfrm>
            <a:off x="8315325" y="2686050"/>
            <a:ext cx="15240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5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5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3C039C0-3695-4221-995F-5D0FC032F0CC}"/>
              </a:ext>
            </a:extLst>
          </p:cNvPr>
          <p:cNvSpPr>
            <a:spLocks noGrp="1"/>
          </p:cNvSpPr>
          <p:nvPr/>
        </p:nvSpPr>
        <p:spPr>
          <a:xfrm>
            <a:off x="8315325" y="3619500"/>
            <a:ext cx="3000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Наблюдение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3205451-9EA8-4090-A49E-265ED0C8DF42}"/>
              </a:ext>
            </a:extLst>
          </p:cNvPr>
          <p:cNvSpPr>
            <a:spLocks noGrp="1"/>
          </p:cNvSpPr>
          <p:nvPr/>
        </p:nvSpPr>
        <p:spPr>
          <a:xfrm>
            <a:off x="8315325" y="4114800"/>
            <a:ext cx="29813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Данные и статус доступны диспетчеру без выдуманного прогноза.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D159739-9363-4B87-A075-8F08B78BA167}"/>
              </a:ext>
            </a:extLst>
          </p:cNvPr>
          <p:cNvSpPr>
            <a:spLocks noGrp="1"/>
          </p:cNvSpPr>
          <p:nvPr/>
        </p:nvSpPr>
        <p:spPr>
          <a:xfrm>
            <a:off x="590550" y="5410200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Новый ID известного типа проходит те же правила. Незнакомый канал не исчезает с экрана.</a:t>
            </a:r>
          </a:p>
        </p:txBody>
      </p:sp>
    </p:spTree>
    <p:extLst>
      <p:ext uri="{BB962C8B-B14F-4D97-AF65-F5344CB8AC3E}">
        <p14:creationId xmlns:p14="http://schemas.microsoft.com/office/powerpoint/2010/main" val="217948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B5E1B3-A896-4D0C-B5DF-971E0EB680E7}"/>
              </a:ext>
            </a:extLst>
          </p:cNvPr>
          <p:cNvSpPr>
            <a:spLocks noGrp="1"/>
          </p:cNvSpPr>
          <p:nvPr/>
        </p:nvSpPr>
        <p:spPr>
          <a:xfrm>
            <a:off x="523875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РЕШЕНИЕ 02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484FF39-1D21-4274-A50E-DFD16C6A7DBB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FA504EE-D290-4083-B5AE-C39DDB6CF4AB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Одна очередь вместо лавины повторов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rcRect t="5108" b="5108"/>
          <a:stretch>
            <a:fillRect/>
          </a:stretch>
        </p:blipFill>
        <p:spPr>
          <a:xfrm>
            <a:off x="666750" y="2381250"/>
            <a:ext cx="6619875" cy="334327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B6DA4F-85B8-49D7-A993-C53A605ABEEE}"/>
              </a:ext>
            </a:extLst>
          </p:cNvPr>
          <p:cNvSpPr>
            <a:spLocks noGrp="1"/>
          </p:cNvSpPr>
          <p:nvPr/>
        </p:nvSpPr>
        <p:spPr>
          <a:xfrm>
            <a:off x="7715250" y="2438400"/>
            <a:ext cx="33147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2 191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73870C7-A9F8-4A62-8290-287191984E08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исторический черновик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A20C9E1-D14F-47C7-A74B-386BEB4D2DE5}"/>
              </a:ext>
            </a:extLst>
          </p:cNvPr>
          <p:cNvSpPr>
            <a:spLocks noGrp="1"/>
          </p:cNvSpPr>
          <p:nvPr/>
        </p:nvSpPr>
        <p:spPr>
          <a:xfrm>
            <a:off x="8763000" y="3562350"/>
            <a:ext cx="114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↓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8901C57-A71A-412D-BC05-6F6E30C64337}"/>
              </a:ext>
            </a:extLst>
          </p:cNvPr>
          <p:cNvSpPr>
            <a:spLocks noGrp="1"/>
          </p:cNvSpPr>
          <p:nvPr/>
        </p:nvSpPr>
        <p:spPr>
          <a:xfrm>
            <a:off x="7715250" y="4019550"/>
            <a:ext cx="33147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2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1 621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5AB598-F736-4BA9-833D-031F67583E6F}"/>
              </a:ext>
            </a:extLst>
          </p:cNvPr>
          <p:cNvSpPr>
            <a:spLocks noGrp="1"/>
          </p:cNvSpPr>
          <p:nvPr/>
        </p:nvSpPr>
        <p:spPr>
          <a:xfrm>
            <a:off x="7734300" y="4714875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группа для разбора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0CC0BEE-90B7-4E90-A2AE-E4BCEE1149FB}"/>
              </a:ext>
            </a:extLst>
          </p:cNvPr>
          <p:cNvSpPr>
            <a:spLocks noGrp="1"/>
          </p:cNvSpPr>
          <p:nvPr/>
        </p:nvSpPr>
        <p:spPr>
          <a:xfrm>
            <a:off x="666750" y="5915025"/>
            <a:ext cx="10191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Без потолка 10 в день. Пик – 13 групп.</a:t>
            </a:r>
          </a:p>
        </p:txBody>
      </p:sp>
    </p:spTree>
    <p:extLst>
      <p:ext uri="{BB962C8B-B14F-4D97-AF65-F5344CB8AC3E}">
        <p14:creationId xmlns:p14="http://schemas.microsoft.com/office/powerpoint/2010/main" val="70956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77A734-E5C1-4A5C-98B0-4D9FACCF9463}"/>
              </a:ext>
            </a:extLst>
          </p:cNvPr>
          <p:cNvSpPr>
            <a:spLocks noGrp="1"/>
          </p:cNvSpPr>
          <p:nvPr/>
        </p:nvSpPr>
        <p:spPr>
          <a:xfrm>
            <a:off x="571500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РЕШЕНИЕ 03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855640-D841-4884-A27D-0BAF6EAE7742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DC69E2B-EE59-4977-9DF9-F4B7CC98A400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Прогноз можно проверить до решения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067B448-7E3F-4EA6-B60F-A8C1797433A1}"/>
              </a:ext>
            </a:extLst>
          </p:cNvPr>
          <p:cNvSpPr>
            <a:spLocks noGrp="1"/>
          </p:cNvSpPr>
          <p:nvPr/>
        </p:nvSpPr>
        <p:spPr>
          <a:xfrm>
            <a:off x="571500" y="2409825"/>
            <a:ext cx="6762750" cy="3257550"/>
          </a:xfrm>
          <a:prstGeom prst="rect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032ADD8-6333-492A-AC97-473FCBD5C043}"/>
              </a:ext>
            </a:extLst>
          </p:cNvPr>
          <p:cNvSpPr>
            <a:spLocks noGrp="1"/>
          </p:cNvSpPr>
          <p:nvPr/>
        </p:nvSpPr>
        <p:spPr>
          <a:xfrm>
            <a:off x="571500" y="2409825"/>
            <a:ext cx="6762750" cy="104775"/>
          </a:xfrm>
          <a:prstGeom prst="rect">
            <a:avLst/>
          </a:prstGeom>
          <a:solidFill>
            <a:srgbClr val="520978"/>
          </a:solidFill>
          <a:ln w="0">
            <a:noFill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CD27EBD-69B8-42A6-B823-DBBFD0423C0F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60007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ДУ ПС объект Омега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4D87579-CD91-4220-936B-013830A450C4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Состояние фазы  ·  канал 178259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E82615-9485-4220-9CA5-6936AA1F1403}"/>
              </a:ext>
            </a:extLst>
          </p:cNvPr>
          <p:cNvSpPr>
            <a:spLocks noGrp="1"/>
          </p:cNvSpPr>
          <p:nvPr/>
        </p:nvSpPr>
        <p:spPr>
          <a:xfrm>
            <a:off x="857250" y="3971925"/>
            <a:ext cx="2047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6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48 ч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99B23F0-811B-4481-9E21-4EE09BDD3F59}"/>
              </a:ext>
            </a:extLst>
          </p:cNvPr>
          <p:cNvSpPr>
            <a:spLocks noGrp="1"/>
          </p:cNvSpPr>
          <p:nvPr/>
        </p:nvSpPr>
        <p:spPr>
          <a:xfrm>
            <a:off x="866775" y="4657725"/>
            <a:ext cx="22383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горизонт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1995021-C480-4887-A09A-491874F0C67A}"/>
              </a:ext>
            </a:extLst>
          </p:cNvPr>
          <p:cNvSpPr>
            <a:spLocks noGrp="1"/>
          </p:cNvSpPr>
          <p:nvPr/>
        </p:nvSpPr>
        <p:spPr>
          <a:xfrm>
            <a:off x="3581400" y="3971925"/>
            <a:ext cx="255270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6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0,985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A527B02-D690-4C5F-BCD3-5C28E156251C}"/>
              </a:ext>
            </a:extLst>
          </p:cNvPr>
          <p:cNvSpPr>
            <a:spLocks noGrp="1"/>
          </p:cNvSpPr>
          <p:nvPr/>
        </p:nvSpPr>
        <p:spPr>
          <a:xfrm>
            <a:off x="3600450" y="4657725"/>
            <a:ext cx="2571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балл модели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0533F73-6A0F-411C-97FB-43349C7CA334}"/>
              </a:ext>
            </a:extLst>
          </p:cNvPr>
          <p:cNvSpPr>
            <a:spLocks noGrp="1"/>
          </p:cNvSpPr>
          <p:nvPr/>
        </p:nvSpPr>
        <p:spPr>
          <a:xfrm>
            <a:off x="857250" y="5153025"/>
            <a:ext cx="60007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Цель – эпизод SCADA. Балл не равен вероятности физической аварии.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63EFF36-F310-43CC-A98C-82AF8AE18C9D}"/>
              </a:ext>
            </a:extLst>
          </p:cNvPr>
          <p:cNvSpPr>
            <a:spLocks noGrp="1"/>
          </p:cNvSpPr>
          <p:nvPr/>
        </p:nvSpPr>
        <p:spPr>
          <a:xfrm>
            <a:off x="7867650" y="2667000"/>
            <a:ext cx="32861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  Источник и время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E6E2C7C-8B5C-4466-A2CE-0D5275702C21}"/>
              </a:ext>
            </a:extLst>
          </p:cNvPr>
          <p:cNvSpPr>
            <a:spLocks noGrp="1"/>
          </p:cNvSpPr>
          <p:nvPr/>
        </p:nvSpPr>
        <p:spPr>
          <a:xfrm>
            <a:off x="7867650" y="3429000"/>
            <a:ext cx="32861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  Исходные записи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A3B3834-ABC8-40BF-AC85-EF0755AE677C}"/>
              </a:ext>
            </a:extLst>
          </p:cNvPr>
          <p:cNvSpPr>
            <a:spLocks noGrp="1"/>
          </p:cNvSpPr>
          <p:nvPr/>
        </p:nvSpPr>
        <p:spPr>
          <a:xfrm>
            <a:off x="7867650" y="4191000"/>
            <a:ext cx="32861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3  Решение человека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85D8FC8-0EEE-4AA0-9A6C-A5C5AFAEC9A8}"/>
              </a:ext>
            </a:extLst>
          </p:cNvPr>
          <p:cNvSpPr>
            <a:spLocks noGrp="1"/>
          </p:cNvSpPr>
          <p:nvPr/>
        </p:nvSpPr>
        <p:spPr>
          <a:xfrm>
            <a:off x="7867650" y="4953000"/>
            <a:ext cx="32861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  Наряд после утверждения</a:t>
            </a:r>
          </a:p>
        </p:txBody>
      </p:sp>
    </p:spTree>
    <p:extLst>
      <p:ext uri="{BB962C8B-B14F-4D97-AF65-F5344CB8AC3E}">
        <p14:creationId xmlns:p14="http://schemas.microsoft.com/office/powerpoint/2010/main" val="149683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204036E-48EB-423E-A603-EB7CC36FCEF0}"/>
              </a:ext>
            </a:extLst>
          </p:cNvPr>
          <p:cNvSpPr>
            <a:spLocks noGrp="1"/>
          </p:cNvSpPr>
          <p:nvPr/>
        </p:nvSpPr>
        <p:spPr>
          <a:xfrm>
            <a:off x="571500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ML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54148B8-FA29-4E83-9DBB-99D357AC6FFD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11DA7BB-0E0F-4BF1-A50D-3033350F204D}"/>
              </a:ext>
            </a:extLst>
          </p:cNvPr>
          <p:cNvSpPr>
            <a:spLocks noGrp="1"/>
          </p:cNvSpPr>
          <p:nvPr/>
        </p:nvSpPr>
        <p:spPr>
          <a:xfrm>
            <a:off x="552450" y="14001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Сильный результат есть. Слабый тоже показан.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FD4CEF-847A-4B6B-BE37-EC3CC8D6CC65}"/>
              </a:ext>
            </a:extLst>
          </p:cNvPr>
          <p:cNvSpPr>
            <a:spLocks noGrp="1"/>
          </p:cNvSpPr>
          <p:nvPr/>
        </p:nvSpPr>
        <p:spPr>
          <a:xfrm>
            <a:off x="571500" y="2419350"/>
            <a:ext cx="5267325" cy="2619375"/>
          </a:xfrm>
          <a:prstGeom prst="rect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A825838-9BAE-4642-A836-7DAB772394FC}"/>
              </a:ext>
            </a:extLst>
          </p:cNvPr>
          <p:cNvSpPr>
            <a:spLocks noGrp="1"/>
          </p:cNvSpPr>
          <p:nvPr/>
        </p:nvSpPr>
        <p:spPr>
          <a:xfrm>
            <a:off x="6105525" y="2419350"/>
            <a:ext cx="5267325" cy="2619375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53"/>
            </a:solidFill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5753F4A-9557-4BE3-8A58-5BF9827D95F3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2857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Фаза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67E8C03-94B5-447A-8494-7410D7EB7F6A}"/>
              </a:ext>
            </a:extLst>
          </p:cNvPr>
          <p:cNvSpPr>
            <a:spLocks noGrp="1"/>
          </p:cNvSpPr>
          <p:nvPr/>
        </p:nvSpPr>
        <p:spPr>
          <a:xfrm>
            <a:off x="819150" y="3171825"/>
            <a:ext cx="4238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5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0,966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7DE4DF7-5F81-4FD8-A8A3-33BAEE034B4D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ROC-AUC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B79615F-6E46-47AC-88CC-41666CD2EA27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38195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AP 0,716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478E811-A58E-45B3-8C7F-B6A7F774DBF0}"/>
              </a:ext>
            </a:extLst>
          </p:cNvPr>
          <p:cNvSpPr>
            <a:spLocks noGrp="1"/>
          </p:cNvSpPr>
          <p:nvPr/>
        </p:nvSpPr>
        <p:spPr>
          <a:xfrm>
            <a:off x="6343650" y="2647950"/>
            <a:ext cx="2857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Насос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BAAB60C-47B1-475C-B40B-FC889EE6D77D}"/>
              </a:ext>
            </a:extLst>
          </p:cNvPr>
          <p:cNvSpPr>
            <a:spLocks noGrp="1"/>
          </p:cNvSpPr>
          <p:nvPr/>
        </p:nvSpPr>
        <p:spPr>
          <a:xfrm>
            <a:off x="6343650" y="3171825"/>
            <a:ext cx="4238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0,587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DD86FD4-C039-40CB-9400-39764BD2C3F0}"/>
              </a:ext>
            </a:extLst>
          </p:cNvPr>
          <p:cNvSpPr>
            <a:spLocks noGrp="1"/>
          </p:cNvSpPr>
          <p:nvPr/>
        </p:nvSpPr>
        <p:spPr>
          <a:xfrm>
            <a:off x="6362700" y="3905250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ROC-AUC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C7D5489-D54C-43F9-84E6-7821B7AA51AD}"/>
              </a:ext>
            </a:extLst>
          </p:cNvPr>
          <p:cNvSpPr>
            <a:spLocks noGrp="1"/>
          </p:cNvSpPr>
          <p:nvPr/>
        </p:nvSpPr>
        <p:spPr>
          <a:xfrm>
            <a:off x="6362700" y="4362450"/>
            <a:ext cx="38195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AP 0,139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EC49C01-BCCC-4937-BBB3-AC9BD8D61282}"/>
              </a:ext>
            </a:extLst>
          </p:cNvPr>
          <p:cNvSpPr>
            <a:spLocks noGrp="1"/>
          </p:cNvSpPr>
          <p:nvPr/>
        </p:nvSpPr>
        <p:spPr>
          <a:xfrm>
            <a:off x="600075" y="539115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Временная проверка измеряет будущий эпизод SCADA. Физический отказ не подтверждён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587354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3A626E-BF8F-4A3F-BD36-35EE45818E25}"/>
              </a:ext>
            </a:extLst>
          </p:cNvPr>
          <p:cNvSpPr>
            <a:spLocks noGrp="1"/>
          </p:cNvSpPr>
          <p:nvPr/>
        </p:nvSpPr>
        <p:spPr>
          <a:xfrm>
            <a:off x="523875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ПОЖАРНЫЙ РАЗДЕЛ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83D1B22-8FDB-451D-810D-E7CC2D177996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CA6182-AAC8-49E8-A870-4BCF7CBB455A}"/>
              </a:ext>
            </a:extLst>
          </p:cNvPr>
          <p:cNvSpPr>
            <a:spLocks noGrp="1"/>
          </p:cNvSpPr>
          <p:nvPr/>
        </p:nvSpPr>
        <p:spPr>
          <a:xfrm>
            <a:off x="647700" y="1514475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Дымовые сигналы показали отдельно от пожаров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9805768-E0F9-463B-8CF1-D241D0AA4B10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42 416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F6BD803-8D5E-4329-9DB0-22B5996AB106}"/>
              </a:ext>
            </a:extLst>
          </p:cNvPr>
          <p:cNvSpPr>
            <a:spLocks noGrp="1"/>
          </p:cNvSpPr>
          <p:nvPr/>
        </p:nvSpPr>
        <p:spPr>
          <a:xfrm>
            <a:off x="733425" y="3333750"/>
            <a:ext cx="49815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сообщений датчиков дыма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8B0C177-6E6A-472F-8102-EDB0C72E0900}"/>
              </a:ext>
            </a:extLst>
          </p:cNvPr>
          <p:cNvSpPr>
            <a:spLocks noGrp="1"/>
          </p:cNvSpPr>
          <p:nvPr/>
        </p:nvSpPr>
        <p:spPr>
          <a:xfrm>
            <a:off x="704850" y="4029075"/>
            <a:ext cx="47625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0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15 458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42133EB-2BAE-408F-9D5A-A8CD805FCEBD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48387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локальных карточек для разбора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/>
          <a:srcRect t="1429" b="1429"/>
          <a:stretch>
            <a:fillRect/>
          </a:stretch>
        </p:blipFill>
        <p:spPr>
          <a:xfrm>
            <a:off x="5953125" y="2390775"/>
            <a:ext cx="5334000" cy="291465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428BEEB-0319-474B-876A-6C089D64006F}"/>
              </a:ext>
            </a:extLst>
          </p:cNvPr>
          <p:cNvSpPr>
            <a:spLocks noGrp="1"/>
          </p:cNvSpPr>
          <p:nvPr/>
        </p:nvSpPr>
        <p:spPr>
          <a:xfrm>
            <a:off x="714375" y="5581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Один телеметрический кандидат. Реестр подтверждённых пожаров заказчик не передал.</a:t>
            </a:r>
          </a:p>
        </p:txBody>
      </p:sp>
    </p:spTree>
    <p:extLst>
      <p:ext uri="{BB962C8B-B14F-4D97-AF65-F5344CB8AC3E}">
        <p14:creationId xmlns:p14="http://schemas.microsoft.com/office/powerpoint/2010/main" val="122108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CC036D6-F11F-4A40-9F15-86A79B8A5E2B}"/>
              </a:ext>
            </a:extLst>
          </p:cNvPr>
          <p:cNvSpPr>
            <a:spLocks noGrp="1"/>
          </p:cNvSpPr>
          <p:nvPr/>
        </p:nvSpPr>
        <p:spPr>
          <a:xfrm>
            <a:off x="571500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РЕШЕНИЕ 04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F3B407E-8669-465F-A44E-53154C4B5669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A0B80FA-1101-49D6-BB59-24183CF426D0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Ползунок не показывает события из будущего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rcRect t="6190" b="6190"/>
          <a:stretch>
            <a:fillRect/>
          </a:stretch>
        </p:blipFill>
        <p:spPr>
          <a:xfrm>
            <a:off x="552450" y="2190750"/>
            <a:ext cx="8001000" cy="39433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89E266-CDDD-4BF9-87F0-AD1C911A7D87}"/>
              </a:ext>
            </a:extLst>
          </p:cNvPr>
          <p:cNvSpPr>
            <a:spLocks noGrp="1"/>
          </p:cNvSpPr>
          <p:nvPr/>
        </p:nvSpPr>
        <p:spPr>
          <a:xfrm>
            <a:off x="9039225" y="2428875"/>
            <a:ext cx="2143125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57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57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1536F15-DEB1-4F49-9E4B-1E83DFCAE0E4}"/>
              </a:ext>
            </a:extLst>
          </p:cNvPr>
          <p:cNvSpPr>
            <a:spLocks noGrp="1"/>
          </p:cNvSpPr>
          <p:nvPr/>
        </p:nvSpPr>
        <p:spPr>
          <a:xfrm>
            <a:off x="9058275" y="3343275"/>
            <a:ext cx="25908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проверенных сценариев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06F757A-FB24-474F-9C7E-C08D3343EC2C}"/>
              </a:ext>
            </a:extLst>
          </p:cNvPr>
          <p:cNvSpPr>
            <a:spLocks noGrp="1"/>
          </p:cNvSpPr>
          <p:nvPr/>
        </p:nvSpPr>
        <p:spPr>
          <a:xfrm>
            <a:off x="9058275" y="4352925"/>
            <a:ext cx="2476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Шаги, пауза, скорость и переход к значимому сигналу.</a:t>
            </a:r>
          </a:p>
        </p:txBody>
      </p:sp>
    </p:spTree>
    <p:extLst>
      <p:ext uri="{BB962C8B-B14F-4D97-AF65-F5344CB8AC3E}">
        <p14:creationId xmlns:p14="http://schemas.microsoft.com/office/powerpoint/2010/main" val="3916489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B1FAFD8-D632-45B7-AD31-3D1CE49DB909}"/>
              </a:ext>
            </a:extLst>
          </p:cNvPr>
          <p:cNvSpPr>
            <a:spLocks noGrp="1"/>
          </p:cNvSpPr>
          <p:nvPr/>
        </p:nvSpPr>
        <p:spPr>
          <a:xfrm>
            <a:off x="571500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ГОТОВЫЙ СЕРВИС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99F744F-0D37-428F-9C54-617705C7AE26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6ECBDE-053A-4F35-A407-5D45CFEEEE8E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Модель стала рабочим местом диспетчера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9A49272-1821-4FA1-B635-A642F2E371EA}"/>
              </a:ext>
            </a:extLst>
          </p:cNvPr>
          <p:cNvSpPr>
            <a:spLocks noGrp="1"/>
          </p:cNvSpPr>
          <p:nvPr/>
        </p:nvSpPr>
        <p:spPr>
          <a:xfrm>
            <a:off x="561975" y="2409825"/>
            <a:ext cx="3476625" cy="2905125"/>
          </a:xfrm>
          <a:prstGeom prst="rect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rcRect l="7568" r="7568"/>
          <a:stretch>
            <a:fillRect/>
          </a:stretch>
        </p:blipFill>
        <p:spPr>
          <a:xfrm>
            <a:off x="647700" y="2495550"/>
            <a:ext cx="3305175" cy="21907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4B2114-12AB-4B44-89B5-9BF1D5A2E2B9}"/>
              </a:ext>
            </a:extLst>
          </p:cNvPr>
          <p:cNvSpPr>
            <a:spLocks noGrp="1"/>
          </p:cNvSpPr>
          <p:nvPr/>
        </p:nvSpPr>
        <p:spPr>
          <a:xfrm>
            <a:off x="714375" y="4829175"/>
            <a:ext cx="3133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Обзор и нагрузка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F46566-BFC2-4C17-8BD3-A04485E499EB}"/>
              </a:ext>
            </a:extLst>
          </p:cNvPr>
          <p:cNvSpPr>
            <a:spLocks noGrp="1"/>
          </p:cNvSpPr>
          <p:nvPr/>
        </p:nvSpPr>
        <p:spPr>
          <a:xfrm>
            <a:off x="4352925" y="2409825"/>
            <a:ext cx="3476625" cy="2905125"/>
          </a:xfrm>
          <a:prstGeom prst="rect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</p:spPr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rcRect l="7568" r="7568"/>
          <a:stretch>
            <a:fillRect/>
          </a:stretch>
        </p:blipFill>
        <p:spPr>
          <a:xfrm>
            <a:off x="4438650" y="2495550"/>
            <a:ext cx="3305175" cy="219075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6FD3D48-59A8-4E6F-A27C-FAD77355458C}"/>
              </a:ext>
            </a:extLst>
          </p:cNvPr>
          <p:cNvSpPr>
            <a:spLocks noGrp="1"/>
          </p:cNvSpPr>
          <p:nvPr/>
        </p:nvSpPr>
        <p:spPr>
          <a:xfrm>
            <a:off x="4505325" y="4829175"/>
            <a:ext cx="3133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Качество и динамика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D8D869C-416F-4D9A-BECF-D7522EA4BBA9}"/>
              </a:ext>
            </a:extLst>
          </p:cNvPr>
          <p:cNvSpPr>
            <a:spLocks noGrp="1"/>
          </p:cNvSpPr>
          <p:nvPr/>
        </p:nvSpPr>
        <p:spPr>
          <a:xfrm>
            <a:off x="8143875" y="2409825"/>
            <a:ext cx="3476625" cy="2905125"/>
          </a:xfrm>
          <a:prstGeom prst="rect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</p:spPr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6"/>
          <a:srcRect l="7568" r="7568"/>
          <a:stretch>
            <a:fillRect/>
          </a:stretch>
        </p:blipFill>
        <p:spPr>
          <a:xfrm>
            <a:off x="8229600" y="2495550"/>
            <a:ext cx="3305175" cy="219075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D7651FF-E3AC-4063-AAFC-6D5EC5AAA4CB}"/>
              </a:ext>
            </a:extLst>
          </p:cNvPr>
          <p:cNvSpPr>
            <a:spLocks noGrp="1"/>
          </p:cNvSpPr>
          <p:nvPr/>
        </p:nvSpPr>
        <p:spPr>
          <a:xfrm>
            <a:off x="8296275" y="4829175"/>
            <a:ext cx="31337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Ситуации и источники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20B3D28-8794-470F-AAD1-6749F5A21515}"/>
              </a:ext>
            </a:extLst>
          </p:cNvPr>
          <p:cNvSpPr>
            <a:spLocks noGrp="1"/>
          </p:cNvSpPr>
          <p:nvPr/>
        </p:nvSpPr>
        <p:spPr>
          <a:xfrm>
            <a:off x="590550" y="5591175"/>
            <a:ext cx="106203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API v2 связывает каналы, события, группы, решения и наряды. Интерфейс читает один контракт.</a:t>
            </a:r>
          </a:p>
        </p:txBody>
      </p:sp>
    </p:spTree>
    <p:extLst>
      <p:ext uri="{BB962C8B-B14F-4D97-AF65-F5344CB8AC3E}">
        <p14:creationId xmlns:p14="http://schemas.microsoft.com/office/powerpoint/2010/main" val="2105351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DC7AAC1-54D1-4068-A44A-0DA907CF8333}"/>
              </a:ext>
            </a:extLst>
          </p:cNvPr>
          <p:cNvSpPr>
            <a:spLocks noGrp="1"/>
          </p:cNvSpPr>
          <p:nvPr/>
        </p:nvSpPr>
        <p:spPr>
          <a:xfrm>
            <a:off x="571500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 РЕШЕНИЯ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9099BE-E987-4A5A-8572-E46FDDEDB06B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99AFE5E-3D28-42D0-B94E-81A00988DEF5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09537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У каждого решения есть путь назад к показанию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0928602-DF8F-450A-A841-65CE9EBE1AB7}"/>
              </a:ext>
            </a:extLst>
          </p:cNvPr>
          <p:cNvSpPr>
            <a:spLocks noGrp="1"/>
          </p:cNvSpPr>
          <p:nvPr/>
        </p:nvSpPr>
        <p:spPr>
          <a:xfrm>
            <a:off x="581025" y="2476500"/>
            <a:ext cx="22288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3DC5921-FFC0-4629-8A5B-ED492FE4D48A}"/>
              </a:ext>
            </a:extLst>
          </p:cNvPr>
          <p:cNvSpPr>
            <a:spLocks noGrp="1"/>
          </p:cNvSpPr>
          <p:nvPr/>
        </p:nvSpPr>
        <p:spPr>
          <a:xfrm>
            <a:off x="581025" y="3314700"/>
            <a:ext cx="2190750" cy="38100"/>
          </a:xfrm>
          <a:prstGeom prst="rect">
            <a:avLst/>
          </a:prstGeom>
          <a:solidFill>
            <a:srgbClr val="520978"/>
          </a:solidFill>
          <a:ln w="0">
            <a:noFill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1ACBE8A-0C80-415B-9452-913E465CA911}"/>
              </a:ext>
            </a:extLst>
          </p:cNvPr>
          <p:cNvSpPr>
            <a:spLocks noGrp="1"/>
          </p:cNvSpPr>
          <p:nvPr/>
        </p:nvSpPr>
        <p:spPr>
          <a:xfrm>
            <a:off x="581025" y="3524250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Событие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4920971-0042-4F17-B8A9-F5A75AC85E88}"/>
              </a:ext>
            </a:extLst>
          </p:cNvPr>
          <p:cNvSpPr>
            <a:spLocks noGrp="1"/>
          </p:cNvSpPr>
          <p:nvPr/>
        </p:nvSpPr>
        <p:spPr>
          <a:xfrm>
            <a:off x="581025" y="4086225"/>
            <a:ext cx="23241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значение, статус, время, канал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235394-2586-43BE-8F52-D30193295638}"/>
              </a:ext>
            </a:extLst>
          </p:cNvPr>
          <p:cNvSpPr>
            <a:spLocks noGrp="1"/>
          </p:cNvSpPr>
          <p:nvPr/>
        </p:nvSpPr>
        <p:spPr>
          <a:xfrm>
            <a:off x="3371850" y="2476500"/>
            <a:ext cx="22288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9068CF-5108-47B4-9C6C-DB3837DF745B}"/>
              </a:ext>
            </a:extLst>
          </p:cNvPr>
          <p:cNvSpPr>
            <a:spLocks noGrp="1"/>
          </p:cNvSpPr>
          <p:nvPr/>
        </p:nvSpPr>
        <p:spPr>
          <a:xfrm>
            <a:off x="3371850" y="3314700"/>
            <a:ext cx="2190750" cy="38100"/>
          </a:xfrm>
          <a:prstGeom prst="rect">
            <a:avLst/>
          </a:prstGeom>
          <a:solidFill>
            <a:srgbClr val="520978"/>
          </a:solidFill>
          <a:ln w="0">
            <a:noFill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99A427-B600-466B-8BA7-50ECAE195802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Контекст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62E365E-8285-459C-ACE7-163D44EACBBE}"/>
              </a:ext>
            </a:extLst>
          </p:cNvPr>
          <p:cNvSpPr>
            <a:spLocks noGrp="1"/>
          </p:cNvSpPr>
          <p:nvPr/>
        </p:nvSpPr>
        <p:spPr>
          <a:xfrm>
            <a:off x="3371850" y="4086225"/>
            <a:ext cx="23241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история только до этого момента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A2CCA22-3DC9-4B67-A72D-D7D23D1E6D74}"/>
              </a:ext>
            </a:extLst>
          </p:cNvPr>
          <p:cNvSpPr>
            <a:spLocks noGrp="1"/>
          </p:cNvSpPr>
          <p:nvPr/>
        </p:nvSpPr>
        <p:spPr>
          <a:xfrm>
            <a:off x="6153150" y="2476500"/>
            <a:ext cx="22288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BD08F63-2096-4230-8703-BFFBF2B0F719}"/>
              </a:ext>
            </a:extLst>
          </p:cNvPr>
          <p:cNvSpPr>
            <a:spLocks noGrp="1"/>
          </p:cNvSpPr>
          <p:nvPr/>
        </p:nvSpPr>
        <p:spPr>
          <a:xfrm>
            <a:off x="6153150" y="3314700"/>
            <a:ext cx="2190750" cy="38100"/>
          </a:xfrm>
          <a:prstGeom prst="rect">
            <a:avLst/>
          </a:prstGeom>
          <a:solidFill>
            <a:srgbClr val="520978"/>
          </a:solidFill>
          <a:ln w="0">
            <a:noFill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EE8712E-5C1D-4366-A58C-3FD347512818}"/>
              </a:ext>
            </a:extLst>
          </p:cNvPr>
          <p:cNvSpPr>
            <a:spLocks noGrp="1"/>
          </p:cNvSpPr>
          <p:nvPr/>
        </p:nvSpPr>
        <p:spPr>
          <a:xfrm>
            <a:off x="6153150" y="3524250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Карточка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7F3BD51-7AE2-4119-A3BE-A92E4EFA68A3}"/>
              </a:ext>
            </a:extLst>
          </p:cNvPr>
          <p:cNvSpPr>
            <a:spLocks noGrp="1"/>
          </p:cNvSpPr>
          <p:nvPr/>
        </p:nvSpPr>
        <p:spPr>
          <a:xfrm>
            <a:off x="6153150" y="4086225"/>
            <a:ext cx="23241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модель или наблюдаемый факт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EA15DBF-85C3-4F0E-9E56-3C8C2BF39A70}"/>
              </a:ext>
            </a:extLst>
          </p:cNvPr>
          <p:cNvSpPr>
            <a:spLocks noGrp="1"/>
          </p:cNvSpPr>
          <p:nvPr/>
        </p:nvSpPr>
        <p:spPr>
          <a:xfrm>
            <a:off x="8943975" y="2476500"/>
            <a:ext cx="22288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16CDEA2-FFFC-49CF-AC55-CD33BC893F5F}"/>
              </a:ext>
            </a:extLst>
          </p:cNvPr>
          <p:cNvSpPr>
            <a:spLocks noGrp="1"/>
          </p:cNvSpPr>
          <p:nvPr/>
        </p:nvSpPr>
        <p:spPr>
          <a:xfrm>
            <a:off x="8943975" y="3314700"/>
            <a:ext cx="2190750" cy="38100"/>
          </a:xfrm>
          <a:prstGeom prst="rect">
            <a:avLst/>
          </a:prstGeom>
          <a:solidFill>
            <a:srgbClr val="520978"/>
          </a:solidFill>
          <a:ln w="0">
            <a:noFill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EE9388E-69C5-4814-920A-319052FF2492}"/>
              </a:ext>
            </a:extLst>
          </p:cNvPr>
          <p:cNvSpPr>
            <a:spLocks noGrp="1"/>
          </p:cNvSpPr>
          <p:nvPr/>
        </p:nvSpPr>
        <p:spPr>
          <a:xfrm>
            <a:off x="8943975" y="3524250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Диспетчер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3790B27-E8EF-4CFF-8881-2F187139AA46}"/>
              </a:ext>
            </a:extLst>
          </p:cNvPr>
          <p:cNvSpPr>
            <a:spLocks noGrp="1"/>
          </p:cNvSpPr>
          <p:nvPr/>
        </p:nvSpPr>
        <p:spPr>
          <a:xfrm>
            <a:off x="8943975" y="4086225"/>
            <a:ext cx="23241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решение и отдельный наряд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AEA1E39-9E70-4842-B5D9-8FA02EDC6E16}"/>
              </a:ext>
            </a:extLst>
          </p:cNvPr>
          <p:cNvSpPr>
            <a:spLocks noGrp="1"/>
          </p:cNvSpPr>
          <p:nvPr/>
        </p:nvSpPr>
        <p:spPr>
          <a:xfrm>
            <a:off x="590550" y="5400675"/>
            <a:ext cx="10382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Черновик хранит исходные записи и время доступности. Группа убирает повторы, но сохраняет каждый draft_id.</a:t>
            </a:r>
          </a:p>
        </p:txBody>
      </p:sp>
    </p:spTree>
    <p:extLst>
      <p:ext uri="{BB962C8B-B14F-4D97-AF65-F5344CB8AC3E}">
        <p14:creationId xmlns:p14="http://schemas.microsoft.com/office/powerpoint/2010/main" val="262367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DDB221B-24E2-483E-B860-E044E6C16791}"/>
              </a:ext>
            </a:extLst>
          </p:cNvPr>
          <p:cNvSpPr>
            <a:spLocks noGrp="1"/>
          </p:cNvSpPr>
          <p:nvPr/>
        </p:nvSpPr>
        <p:spPr>
          <a:xfrm>
            <a:off x="571500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НОВЫЕ КАНАЛЫ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3A6E41-6CF0-4193-8FD8-3566A695A1FD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B61828-F2B7-41FD-A342-41A907793A21}"/>
              </a:ext>
            </a:extLst>
          </p:cNvPr>
          <p:cNvSpPr>
            <a:spLocks noGrp="1"/>
          </p:cNvSpPr>
          <p:nvPr/>
        </p:nvSpPr>
        <p:spPr>
          <a:xfrm>
            <a:off x="542925" y="1323975"/>
            <a:ext cx="1095375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Новый канал получает проверку, а не молчание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BF0D98-EBE0-4A7C-9E2D-8A445A514A1C}"/>
              </a:ext>
            </a:extLst>
          </p:cNvPr>
          <p:cNvSpPr>
            <a:spLocks noGrp="1"/>
          </p:cNvSpPr>
          <p:nvPr/>
        </p:nvSpPr>
        <p:spPr>
          <a:xfrm>
            <a:off x="590550" y="2390775"/>
            <a:ext cx="46291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5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12 627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30CFFC-FBA4-45B6-8F56-B6BDBA2A247E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42767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каналов в истории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CEA9AB0-91B5-4DDC-B048-6E4555CBC811}"/>
              </a:ext>
            </a:extLst>
          </p:cNvPr>
          <p:cNvSpPr>
            <a:spLocks noGrp="1"/>
          </p:cNvSpPr>
          <p:nvPr/>
        </p:nvSpPr>
        <p:spPr>
          <a:xfrm>
            <a:off x="6210300" y="2390775"/>
            <a:ext cx="4581525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1 142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8D0A4F6-E9FB-4B9F-A83A-4C9FBC9E2EE5}"/>
              </a:ext>
            </a:extLst>
          </p:cNvPr>
          <p:cNvSpPr>
            <a:spLocks noGrp="1"/>
          </p:cNvSpPr>
          <p:nvPr/>
        </p:nvSpPr>
        <p:spPr>
          <a:xfrm>
            <a:off x="6229350" y="3295650"/>
            <a:ext cx="4648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без записи в справочнике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66C8A8-CEBD-4CFB-A671-A8FBD389B400}"/>
              </a:ext>
            </a:extLst>
          </p:cNvPr>
          <p:cNvSpPr>
            <a:spLocks noGrp="1"/>
          </p:cNvSpPr>
          <p:nvPr/>
        </p:nvSpPr>
        <p:spPr>
          <a:xfrm>
            <a:off x="590550" y="4076700"/>
            <a:ext cx="10572750" cy="28575"/>
          </a:xfrm>
          <a:prstGeom prst="rect">
            <a:avLst/>
          </a:prstGeom>
          <a:solidFill>
            <a:srgbClr val="520978"/>
          </a:solidFill>
          <a:ln w="0">
            <a:noFill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5FABE83-01DD-4E1B-BB3D-9C03AFB63D00}"/>
              </a:ext>
            </a:extLst>
          </p:cNvPr>
          <p:cNvSpPr>
            <a:spLocks noGrp="1"/>
          </p:cNvSpPr>
          <p:nvPr/>
        </p:nvSpPr>
        <p:spPr>
          <a:xfrm>
            <a:off x="600075" y="4333875"/>
            <a:ext cx="5143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Известный тип + достаточная история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18C8A29-FF50-4741-8C3D-952BF633E5C5}"/>
              </a:ext>
            </a:extLst>
          </p:cNvPr>
          <p:cNvSpPr>
            <a:spLocks noGrp="1"/>
          </p:cNvSpPr>
          <p:nvPr/>
        </p:nvSpPr>
        <p:spPr>
          <a:xfrm>
            <a:off x="600075" y="48768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расчёт по правилам типа, даже если ID раньше не встречался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BA3E6B-4212-4BEC-B51A-48AA840DB2F8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4972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Неизвестный тип или пустая история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E0DC88-B361-4E78-96D1-AD4DE0F49E39}"/>
              </a:ext>
            </a:extLst>
          </p:cNvPr>
          <p:cNvSpPr>
            <a:spLocks noGrp="1"/>
          </p:cNvSpPr>
          <p:nvPr/>
        </p:nvSpPr>
        <p:spPr>
          <a:xfrm>
            <a:off x="6191250" y="487680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видимый статус и причина, без выдуманного прогноза</a:t>
            </a:r>
          </a:p>
        </p:txBody>
      </p:sp>
    </p:spTree>
    <p:extLst>
      <p:ext uri="{BB962C8B-B14F-4D97-AF65-F5344CB8AC3E}">
        <p14:creationId xmlns:p14="http://schemas.microsoft.com/office/powerpoint/2010/main" val="2279605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833272-4C94-49E9-8AD9-015C245F17B5}"/>
              </a:ext>
            </a:extLst>
          </p:cNvPr>
          <p:cNvSpPr>
            <a:spLocks noGrp="1"/>
          </p:cNvSpPr>
          <p:nvPr/>
        </p:nvSpPr>
        <p:spPr>
          <a:xfrm>
            <a:off x="523875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НЕ ВЫПУСТИЛИ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73825C9-2F30-47AC-A513-2DB5DAA2E3A7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41C7DF-810A-43E1-9796-0886AC773463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Мы проверяли и останавливали слабые гипотезы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BE648B-CB45-4044-B51E-37F782820F24}"/>
              </a:ext>
            </a:extLst>
          </p:cNvPr>
          <p:cNvSpPr>
            <a:spLocks noGrp="1"/>
          </p:cNvSpPr>
          <p:nvPr/>
        </p:nvSpPr>
        <p:spPr>
          <a:xfrm>
            <a:off x="695325" y="3171825"/>
            <a:ext cx="10572750" cy="19050"/>
          </a:xfrm>
          <a:prstGeom prst="rect">
            <a:avLst/>
          </a:prstGeom>
          <a:solidFill>
            <a:srgbClr val="FFD6E4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5F8284B-8A5E-41FD-90FB-6CA842BAADA2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28670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Температура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D4C0328-4502-4F57-9EDF-8B16CE40DE60}"/>
              </a:ext>
            </a:extLst>
          </p:cNvPr>
          <p:cNvSpPr>
            <a:spLocks noGrp="1"/>
          </p:cNvSpPr>
          <p:nvPr/>
        </p:nvSpPr>
        <p:spPr>
          <a:xfrm>
            <a:off x="3695700" y="2457450"/>
            <a:ext cx="3095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AP 0,019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EA92F2-F3ED-45A2-9638-D71F0AC90536}"/>
              </a:ext>
            </a:extLst>
          </p:cNvPr>
          <p:cNvSpPr>
            <a:spLocks noGrp="1"/>
          </p:cNvSpPr>
          <p:nvPr/>
        </p:nvSpPr>
        <p:spPr>
          <a:xfrm>
            <a:off x="6953250" y="2457450"/>
            <a:ext cx="43148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11 эпизодов в периоде политики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F89E52-5306-480E-A150-98DC003E4EC5}"/>
              </a:ext>
            </a:extLst>
          </p:cNvPr>
          <p:cNvSpPr>
            <a:spLocks noGrp="1"/>
          </p:cNvSpPr>
          <p:nvPr/>
        </p:nvSpPr>
        <p:spPr>
          <a:xfrm>
            <a:off x="695325" y="4067175"/>
            <a:ext cx="10572750" cy="19050"/>
          </a:xfrm>
          <a:prstGeom prst="rect">
            <a:avLst/>
          </a:prstGeom>
          <a:solidFill>
            <a:srgbClr val="FFD6E4"/>
          </a:solidFill>
          <a:ln w="0">
            <a:noFill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1010BD0-B4F0-4DCC-9052-4E27B289B3ED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8670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Вентилятор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6567017-2BF9-4A5F-A617-9036CF118FF2}"/>
              </a:ext>
            </a:extLst>
          </p:cNvPr>
          <p:cNvSpPr>
            <a:spLocks noGrp="1"/>
          </p:cNvSpPr>
          <p:nvPr/>
        </p:nvSpPr>
        <p:spPr>
          <a:xfrm>
            <a:off x="3695700" y="3352800"/>
            <a:ext cx="3095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ROC-AUC 0,519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CB8B17C-BDD6-4D2A-ADCE-0AAB413FC382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43148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38 кандидатов, 5 совпадений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8A8FBBA-B8F8-4DCA-8E1A-02B8A4E988A6}"/>
              </a:ext>
            </a:extLst>
          </p:cNvPr>
          <p:cNvSpPr>
            <a:spLocks noGrp="1"/>
          </p:cNvSpPr>
          <p:nvPr/>
        </p:nvSpPr>
        <p:spPr>
          <a:xfrm>
            <a:off x="695325" y="4962525"/>
            <a:ext cx="10572750" cy="19050"/>
          </a:xfrm>
          <a:prstGeom prst="rect">
            <a:avLst/>
          </a:prstGeom>
          <a:solidFill>
            <a:srgbClr val="FFD6E4"/>
          </a:solidFill>
          <a:ln w="0">
            <a:noFill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2E996BC-853C-4947-9932-CE4A0242356A}"/>
              </a:ext>
            </a:extLst>
          </p:cNvPr>
          <p:cNvSpPr>
            <a:spLocks noGrp="1"/>
          </p:cNvSpPr>
          <p:nvPr/>
        </p:nvSpPr>
        <p:spPr>
          <a:xfrm>
            <a:off x="723900" y="4248150"/>
            <a:ext cx="28670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Газ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C58D9CF-8936-453E-BA5C-92047E2F5B19}"/>
              </a:ext>
            </a:extLst>
          </p:cNvPr>
          <p:cNvSpPr>
            <a:spLocks noGrp="1"/>
          </p:cNvSpPr>
          <p:nvPr/>
        </p:nvSpPr>
        <p:spPr>
          <a:xfrm>
            <a:off x="3695700" y="4248150"/>
            <a:ext cx="3095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нет цели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F3BF396-BA71-4C2B-B133-231B9F72221B}"/>
              </a:ext>
            </a:extLst>
          </p:cNvPr>
          <p:cNvSpPr>
            <a:spLocks noGrp="1"/>
          </p:cNvSpPr>
          <p:nvPr/>
        </p:nvSpPr>
        <p:spPr>
          <a:xfrm>
            <a:off x="6953250" y="4248150"/>
            <a:ext cx="43148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баллоном похожа на утечку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DD20DC-6F8C-4366-9848-825E260C989E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2870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Результат исследования виден отдельно. В очередь попадают только выпущенные прогнозы и проверяемые наблюдения.</a:t>
            </a:r>
          </a:p>
        </p:txBody>
      </p:sp>
    </p:spTree>
    <p:extLst>
      <p:ext uri="{BB962C8B-B14F-4D97-AF65-F5344CB8AC3E}">
        <p14:creationId xmlns:p14="http://schemas.microsoft.com/office/powerpoint/2010/main" val="3675499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5C4D0E5-CF3E-420E-A44B-75EEC6797327}"/>
              </a:ext>
            </a:extLst>
          </p:cNvPr>
          <p:cNvSpPr>
            <a:spLocks noGrp="1"/>
          </p:cNvSpPr>
          <p:nvPr/>
        </p:nvSpPr>
        <p:spPr>
          <a:xfrm>
            <a:off x="571500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ПРОВЕРИТЬ САМИМ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FDC3CD-E093-4DF1-8826-DE5101EA7DD3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E2F1523-3398-4D6E-86E9-A8319741B27F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0829925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1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Рабочий прототип открыт для жюри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rcRect t="7460" b="7460"/>
          <a:stretch>
            <a:fillRect/>
          </a:stretch>
        </p:blipFill>
        <p:spPr>
          <a:xfrm>
            <a:off x="552450" y="2371725"/>
            <a:ext cx="6667500" cy="319087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ED6853-428E-4695-9231-066AB2BA27A5}"/>
              </a:ext>
            </a:extLst>
          </p:cNvPr>
          <p:cNvSpPr>
            <a:spLocks noGrp="1"/>
          </p:cNvSpPr>
          <p:nvPr/>
        </p:nvSpPr>
        <p:spPr>
          <a:xfrm>
            <a:off x="7629525" y="2457450"/>
            <a:ext cx="36099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Интерфейс диспетчера</a:t>
            </a:r>
          </a:p>
        </p:txBody>
      </p:sp>
      <p:sp>
        <p:nvSpPr>
          <p:cNvPr id="7" name="Прямоугольник 6">
            <a:hlinkClick r:id="rId5"/>
            <a:extLst>
              <a:ext uri="{FF2B5EF4-FFF2-40B4-BE49-F238E27FC236}">
                <a16:creationId xmlns:a16="http://schemas.microsoft.com/office/drawing/2014/main" id="{DC4324C4-7AD6-408B-A2A8-415E145F3A60}"/>
              </a:ext>
            </a:extLst>
          </p:cNvPr>
          <p:cNvSpPr>
            <a:spLocks noGrp="1"/>
          </p:cNvSpPr>
          <p:nvPr/>
        </p:nvSpPr>
        <p:spPr>
          <a:xfrm>
            <a:off x="7629525" y="2924175"/>
            <a:ext cx="37338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http://45.15.159.227/overview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2744D7-EC8D-4D5D-9C35-607AE1905028}"/>
              </a:ext>
            </a:extLst>
          </p:cNvPr>
          <p:cNvSpPr>
            <a:spLocks noGrp="1"/>
          </p:cNvSpPr>
          <p:nvPr/>
        </p:nvSpPr>
        <p:spPr>
          <a:xfrm>
            <a:off x="7629525" y="3895725"/>
            <a:ext cx="34861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Описание API</a:t>
            </a:r>
          </a:p>
        </p:txBody>
      </p:sp>
      <p:sp>
        <p:nvSpPr>
          <p:cNvPr id="9" name="Прямоугольник 8">
            <a:hlinkClick r:id="rId6"/>
            <a:extLst>
              <a:ext uri="{FF2B5EF4-FFF2-40B4-BE49-F238E27FC236}">
                <a16:creationId xmlns:a16="http://schemas.microsoft.com/office/drawing/2014/main" id="{68E2A6E8-24C2-44F8-80C3-758CD876279D}"/>
              </a:ext>
            </a:extLst>
          </p:cNvPr>
          <p:cNvSpPr>
            <a:spLocks noGrp="1"/>
          </p:cNvSpPr>
          <p:nvPr/>
        </p:nvSpPr>
        <p:spPr>
          <a:xfrm>
            <a:off x="7629525" y="4343400"/>
            <a:ext cx="3724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http://45.15.159.227/docs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C2E8957-3E17-4D06-9197-641297F53780}"/>
              </a:ext>
            </a:extLst>
          </p:cNvPr>
          <p:cNvSpPr>
            <a:spLocks noGrp="1"/>
          </p:cNvSpPr>
          <p:nvPr/>
        </p:nvSpPr>
        <p:spPr>
          <a:xfrm>
            <a:off x="581025" y="5800725"/>
            <a:ext cx="10648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Демо воспроизводит архив. Подключение потока СМВУ и проверка на рабочей смене – следующий этап.</a:t>
            </a:r>
          </a:p>
        </p:txBody>
      </p:sp>
    </p:spTree>
    <p:extLst>
      <p:ext uri="{BB962C8B-B14F-4D97-AF65-F5344CB8AC3E}">
        <p14:creationId xmlns:p14="http://schemas.microsoft.com/office/powerpoint/2010/main" val="2643089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61A0E6-3DB6-4EEE-88FE-D38A031D6A09}"/>
              </a:ext>
            </a:extLst>
          </p:cNvPr>
          <p:cNvSpPr>
            <a:spLocks noGrp="1"/>
          </p:cNvSpPr>
          <p:nvPr/>
        </p:nvSpPr>
        <p:spPr>
          <a:xfrm>
            <a:off x="523875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ПИЛОТ МОСКОЛЛЕКТОРА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4DB4007-1C05-47FA-ACCD-716D689446D1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FB529D-E0CD-44CF-90B7-8EEF668ACE11}"/>
              </a:ext>
            </a:extLst>
          </p:cNvPr>
          <p:cNvSpPr>
            <a:spLocks noGrp="1"/>
          </p:cNvSpPr>
          <p:nvPr/>
        </p:nvSpPr>
        <p:spPr>
          <a:xfrm>
            <a:off x="657225" y="1514475"/>
            <a:ext cx="10763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Внедрение начинается с чтения данных СМВУ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6D90BB9-91A1-4032-8957-7AB42EEE86B0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009775" cy="1314450"/>
          </a:xfrm>
          <a:prstGeom prst="rect">
            <a:avLst/>
          </a:prstGeom>
          <a:solidFill>
            <a:srgbClr val="F2F0F5"/>
          </a:solidFill>
          <a:ln w="19050">
            <a:solidFill>
              <a:srgbClr val="520978"/>
            </a:solidFill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C33A498-1FB6-4C9B-B55C-4A53B504ACF5}"/>
              </a:ext>
            </a:extLst>
          </p:cNvPr>
          <p:cNvSpPr>
            <a:spLocks noGrp="1"/>
          </p:cNvSpPr>
          <p:nvPr/>
        </p:nvSpPr>
        <p:spPr>
          <a:xfrm>
            <a:off x="847725" y="2724150"/>
            <a:ext cx="16859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СМВУ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1C61F3F-447A-4383-9D66-B47FBB4186DD}"/>
              </a:ext>
            </a:extLst>
          </p:cNvPr>
          <p:cNvSpPr>
            <a:spLocks noGrp="1"/>
          </p:cNvSpPr>
          <p:nvPr/>
        </p:nvSpPr>
        <p:spPr>
          <a:xfrm>
            <a:off x="847725" y="3209925"/>
            <a:ext cx="16859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показания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020FE7C-E4B6-4824-98A6-0722724C52EE}"/>
              </a:ext>
            </a:extLst>
          </p:cNvPr>
          <p:cNvSpPr>
            <a:spLocks noGrp="1"/>
          </p:cNvSpPr>
          <p:nvPr/>
        </p:nvSpPr>
        <p:spPr>
          <a:xfrm>
            <a:off x="3352800" y="2571750"/>
            <a:ext cx="2447925" cy="1314450"/>
          </a:xfrm>
          <a:prstGeom prst="rect">
            <a:avLst/>
          </a:prstGeom>
          <a:solidFill>
            <a:srgbClr val="F2F0F5"/>
          </a:solidFill>
          <a:ln w="19050">
            <a:solidFill>
              <a:srgbClr val="520978"/>
            </a:solidFill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C61150-B559-4918-A2B6-0FCAA695A057}"/>
              </a:ext>
            </a:extLst>
          </p:cNvPr>
          <p:cNvSpPr>
            <a:spLocks noGrp="1"/>
          </p:cNvSpPr>
          <p:nvPr/>
        </p:nvSpPr>
        <p:spPr>
          <a:xfrm>
            <a:off x="3514725" y="2724150"/>
            <a:ext cx="2095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Dolos ML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71E4870-65CB-451B-AE4F-7F7ED2ECC8CF}"/>
              </a:ext>
            </a:extLst>
          </p:cNvPr>
          <p:cNvSpPr>
            <a:spLocks noGrp="1"/>
          </p:cNvSpPr>
          <p:nvPr/>
        </p:nvSpPr>
        <p:spPr>
          <a:xfrm>
            <a:off x="3514725" y="3209925"/>
            <a:ext cx="20955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сигнал + свидетельства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CDED4D7-E144-476F-A8E0-5C4BAAFDE0AE}"/>
              </a:ext>
            </a:extLst>
          </p:cNvPr>
          <p:cNvSpPr>
            <a:spLocks noGrp="1"/>
          </p:cNvSpPr>
          <p:nvPr/>
        </p:nvSpPr>
        <p:spPr>
          <a:xfrm>
            <a:off x="6448425" y="2571750"/>
            <a:ext cx="2009775" cy="1314450"/>
          </a:xfrm>
          <a:prstGeom prst="rect">
            <a:avLst/>
          </a:prstGeom>
          <a:solidFill>
            <a:srgbClr val="F2F0F5"/>
          </a:solidFill>
          <a:ln w="19050">
            <a:solidFill>
              <a:srgbClr val="520978"/>
            </a:solidFill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493ED30-C184-448E-8C21-F52C552823F8}"/>
              </a:ext>
            </a:extLst>
          </p:cNvPr>
          <p:cNvSpPr>
            <a:spLocks noGrp="1"/>
          </p:cNvSpPr>
          <p:nvPr/>
        </p:nvSpPr>
        <p:spPr>
          <a:xfrm>
            <a:off x="6610350" y="2724150"/>
            <a:ext cx="16859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API v2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640F257-3262-440C-B1D8-9E721DFC305D}"/>
              </a:ext>
            </a:extLst>
          </p:cNvPr>
          <p:cNvSpPr>
            <a:spLocks noGrp="1"/>
          </p:cNvSpPr>
          <p:nvPr/>
        </p:nvSpPr>
        <p:spPr>
          <a:xfrm>
            <a:off x="6610350" y="3209925"/>
            <a:ext cx="16859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группа + решение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7171A37-7307-4751-8A7F-A427598D7A32}"/>
              </a:ext>
            </a:extLst>
          </p:cNvPr>
          <p:cNvSpPr>
            <a:spLocks noGrp="1"/>
          </p:cNvSpPr>
          <p:nvPr/>
        </p:nvSpPr>
        <p:spPr>
          <a:xfrm>
            <a:off x="9277350" y="2571750"/>
            <a:ext cx="2009775" cy="1314450"/>
          </a:xfrm>
          <a:prstGeom prst="rect">
            <a:avLst/>
          </a:prstGeom>
          <a:solidFill>
            <a:srgbClr val="F2F0F5"/>
          </a:solidFill>
          <a:ln w="19050">
            <a:solidFill>
              <a:srgbClr val="520978"/>
            </a:solidFill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1AE971B-3496-4B9F-ABB7-E0DF4DB56DBA}"/>
              </a:ext>
            </a:extLst>
          </p:cNvPr>
          <p:cNvSpPr>
            <a:spLocks noGrp="1"/>
          </p:cNvSpPr>
          <p:nvPr/>
        </p:nvSpPr>
        <p:spPr>
          <a:xfrm>
            <a:off x="9439275" y="2724150"/>
            <a:ext cx="16859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ОДС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D7C69F8-89A6-4032-89FD-3C30AF968572}"/>
              </a:ext>
            </a:extLst>
          </p:cNvPr>
          <p:cNvSpPr>
            <a:spLocks noGrp="1"/>
          </p:cNvSpPr>
          <p:nvPr/>
        </p:nvSpPr>
        <p:spPr>
          <a:xfrm>
            <a:off x="9439275" y="3209925"/>
            <a:ext cx="16859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разбор + наряд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E22D8B9-E72B-4E83-B7A4-2E0FCAA641B1}"/>
              </a:ext>
            </a:extLst>
          </p:cNvPr>
          <p:cNvSpPr>
            <a:spLocks noGrp="1"/>
          </p:cNvSpPr>
          <p:nvPr/>
        </p:nvSpPr>
        <p:spPr>
          <a:xfrm>
            <a:off x="2809875" y="3019425"/>
            <a:ext cx="476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E78655E-D529-4424-A88C-8B8ECD278F5B}"/>
              </a:ext>
            </a:extLst>
          </p:cNvPr>
          <p:cNvSpPr>
            <a:spLocks noGrp="1"/>
          </p:cNvSpPr>
          <p:nvPr/>
        </p:nvSpPr>
        <p:spPr>
          <a:xfrm>
            <a:off x="5867400" y="3019425"/>
            <a:ext cx="476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77A3A6B-6FB5-4105-B931-26D32D382118}"/>
              </a:ext>
            </a:extLst>
          </p:cNvPr>
          <p:cNvSpPr>
            <a:spLocks noGrp="1"/>
          </p:cNvSpPr>
          <p:nvPr/>
        </p:nvSpPr>
        <p:spPr>
          <a:xfrm>
            <a:off x="8772525" y="3019425"/>
            <a:ext cx="476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A688692-5396-431A-A3F5-86B965141719}"/>
              </a:ext>
            </a:extLst>
          </p:cNvPr>
          <p:cNvSpPr>
            <a:spLocks noGrp="1"/>
          </p:cNvSpPr>
          <p:nvPr/>
        </p:nvSpPr>
        <p:spPr>
          <a:xfrm>
            <a:off x="714375" y="4533900"/>
            <a:ext cx="1047750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Для реального пилота нужны поток данных, график ППР, журнал ремонтов и реестр подтверждённых пожаров.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A8C7BB3-6234-4E77-B51C-242726EBE970}"/>
              </a:ext>
            </a:extLst>
          </p:cNvPr>
          <p:cNvSpPr>
            <a:spLocks noGrp="1"/>
          </p:cNvSpPr>
          <p:nvPr/>
        </p:nvSpPr>
        <p:spPr>
          <a:xfrm>
            <a:off x="714375" y="571500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D5B65"/>
                </a:solidFill>
                <a:latin typeface="Montserrat"/>
                <a:ea typeface="Montserrat"/>
                <a:cs typeface="Montserrat"/>
              </a:rPr>
              <a:t>Сейчас проверен исторический контур и действия диспетчера в интерфейсе.</a:t>
            </a:r>
          </a:p>
        </p:txBody>
      </p:sp>
    </p:spTree>
    <p:extLst>
      <p:ext uri="{BB962C8B-B14F-4D97-AF65-F5344CB8AC3E}">
        <p14:creationId xmlns:p14="http://schemas.microsoft.com/office/powerpoint/2010/main" val="2197904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4E2D7E-DF89-4079-A834-E971C92E1266}"/>
              </a:ext>
            </a:extLst>
          </p:cNvPr>
          <p:cNvSpPr>
            <a:spLocks noGrp="1"/>
          </p:cNvSpPr>
          <p:nvPr/>
        </p:nvSpPr>
        <p:spPr>
          <a:xfrm>
            <a:off x="523875" y="4667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TEAM DOLOS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DA10A13-FCDD-4BE9-B196-AB76A7A32A9B}"/>
              </a:ext>
            </a:extLst>
          </p:cNvPr>
          <p:cNvSpPr>
            <a:spLocks noGrp="1"/>
          </p:cNvSpPr>
          <p:nvPr/>
        </p:nvSpPr>
        <p:spPr>
          <a:xfrm>
            <a:off x="11620500" y="641985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419A2C-192E-48E2-BAF8-0F08253917DB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19175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7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Телеметрия → проверяемое решение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42BB9-E148-44AF-8A00-D3C052165413}"/>
              </a:ext>
            </a:extLst>
          </p:cNvPr>
          <p:cNvSpPr>
            <a:spLocks noGrp="1"/>
          </p:cNvSpPr>
          <p:nvPr/>
        </p:nvSpPr>
        <p:spPr>
          <a:xfrm>
            <a:off x="714375" y="2781300"/>
            <a:ext cx="10572750" cy="47625"/>
          </a:xfrm>
          <a:prstGeom prst="rect">
            <a:avLst/>
          </a:prstGeom>
          <a:solidFill>
            <a:srgbClr val="FF0053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7C1EC46-EAC0-464B-BC48-6DD94A28CF00}"/>
              </a:ext>
            </a:extLst>
          </p:cNvPr>
          <p:cNvSpPr>
            <a:spLocks noGrp="1"/>
          </p:cNvSpPr>
          <p:nvPr/>
        </p:nvSpPr>
        <p:spPr>
          <a:xfrm>
            <a:off x="742950" y="3133725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19 типов датчиков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687F3A9-BE4E-4AF0-B1AF-684408C016E4}"/>
              </a:ext>
            </a:extLst>
          </p:cNvPr>
          <p:cNvSpPr>
            <a:spLocks noGrp="1"/>
          </p:cNvSpPr>
          <p:nvPr/>
        </p:nvSpPr>
        <p:spPr>
          <a:xfrm>
            <a:off x="4505325" y="3133725"/>
            <a:ext cx="31908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1 621 группа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839D6D-FA48-44C1-B1FD-78AE345DFA63}"/>
              </a:ext>
            </a:extLst>
          </p:cNvPr>
          <p:cNvSpPr>
            <a:spLocks noGrp="1"/>
          </p:cNvSpPr>
          <p:nvPr/>
        </p:nvSpPr>
        <p:spPr>
          <a:xfrm>
            <a:off x="8324850" y="3133725"/>
            <a:ext cx="2714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8 сценариев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6BCF20-D215-4989-953A-8C14055B22B9}"/>
              </a:ext>
            </a:extLst>
          </p:cNvPr>
          <p:cNvSpPr>
            <a:spLocks noGrp="1"/>
          </p:cNvSpPr>
          <p:nvPr/>
        </p:nvSpPr>
        <p:spPr>
          <a:xfrm>
            <a:off x="733425" y="4124325"/>
            <a:ext cx="1009650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Диспетчер видит сигнал, его источник, ограничения модели и историю событий. Решение остаётся за человеком.</a:t>
            </a:r>
          </a:p>
        </p:txBody>
      </p:sp>
      <p:sp>
        <p:nvSpPr>
          <p:cNvPr id="10" name="Прямоугольник 9">
            <a:hlinkClick r:id="rId4"/>
            <a:extLst>
              <a:ext uri="{FF2B5EF4-FFF2-40B4-BE49-F238E27FC236}">
                <a16:creationId xmlns:a16="http://schemas.microsoft.com/office/drawing/2014/main" id="{A5FBA586-383C-4416-A308-0875A6B9B54C}"/>
              </a:ext>
            </a:extLst>
          </p:cNvPr>
          <p:cNvSpPr>
            <a:spLocks noGrp="1"/>
          </p:cNvSpPr>
          <p:nvPr/>
        </p:nvSpPr>
        <p:spPr>
          <a:xfrm>
            <a:off x="752475" y="5543550"/>
            <a:ext cx="7524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http://45.15.159.227/overview</a:t>
            </a:r>
          </a:p>
        </p:txBody>
      </p:sp>
      <p:sp>
        <p:nvSpPr>
          <p:cNvPr id="11" name="Прямоугольник 10">
            <a:hlinkClick r:id="rId5"/>
            <a:extLst>
              <a:ext uri="{FF2B5EF4-FFF2-40B4-BE49-F238E27FC236}">
                <a16:creationId xmlns:a16="http://schemas.microsoft.com/office/drawing/2014/main" id="{BFB8866C-9D64-4FEA-952A-43325E5027D9}"/>
              </a:ext>
            </a:extLst>
          </p:cNvPr>
          <p:cNvSpPr>
            <a:spLocks noGrp="1"/>
          </p:cNvSpPr>
          <p:nvPr/>
        </p:nvSpPr>
        <p:spPr>
          <a:xfrm>
            <a:off x="752475" y="5924550"/>
            <a:ext cx="7810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github.com/MonaCCi111/lct2</a:t>
            </a:r>
          </a:p>
        </p:txBody>
      </p:sp>
    </p:spTree>
    <p:extLst>
      <p:ext uri="{BB962C8B-B14F-4D97-AF65-F5344CB8AC3E}">
        <p14:creationId xmlns:p14="http://schemas.microsoft.com/office/powerpoint/2010/main" val="281599052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1549</Words>
  <Application>Microsoft Office PowerPoint</Application>
  <PresentationFormat>Широкоэкранный</PresentationFormat>
  <Paragraphs>204</Paragraphs>
  <Slides>19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Montserrat</vt:lpstr>
      <vt:lpstr>Wingdings</vt:lpstr>
      <vt:lpstr>Для Академия инноваторов 16_9</vt:lpstr>
      <vt:lpstr>Презентация PowerPoint</vt:lpstr>
      <vt:lpstr>Презентация PowerPoint</vt:lpstr>
      <vt:lpstr>КОМАНДА DOLOS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Вячеслав Дягилев</cp:lastModifiedBy>
  <cp:revision>96</cp:revision>
  <dcterms:created xsi:type="dcterms:W3CDTF">2023-05-15T07:36:23Z</dcterms:created>
  <dcterms:modified xsi:type="dcterms:W3CDTF">2026-09-29T19:16:28Z</dcterms:modified>
</cp:coreProperties>
</file>